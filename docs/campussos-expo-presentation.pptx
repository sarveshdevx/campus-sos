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type="screen16x9"/>
  <p:notesSz cx="6858000" cy="9144000"/>
</p:presentation>
</file>

<file path=ppt/_rels/presentation.xml.rels><?xml version="1.0" encoding="UTF-8" standalone="yes"?>
<Relationships xmlns="http://schemas.openxmlformats.org/package/2006/relationships">
<Relationship Id="rId1" Type="http://schemas.openxmlformats.org/officeDocument/2006/relationships/slideMaster" Target="slideMasters/slideMaster1.xml"/>
<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s>
</file>

<file path=ppt/notesSlides/_rels/notesSlide1.xml.rels><?xml version="1.0" encoding="UTF-8" standalone="yes"?>
<Relationships xmlns="http://schemas.openxmlformats.org/package/2006/relationships">
<Relationship Id="rId1"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x="0" y="0"/>
          <a:chOff x="0" y="0"/>
          <a:chExt x="0" y="0"/>
        </a:xfrm>
      </p:grpSpPr>
      <p:sp>
        <p:nvSpPr>
          <p:cNvPr id="2" name="NotesBody"/>
          <p:cNvSpPr/>
          <p:nvPr/>
        </p:nvSpPr>
        <p:spPr>
          <a:xfrm>
            <a:off x="685800" y="1143000"/>
            <a:ext x="5486400" y="6858000"/>
          </a:xfrm>
          <a:prstGeom prst="rect">
            <a:avLst/>
          </a:prstGeom>
          <a:noFill/>
        </p:spPr>
        <p:txBody>
          <a:bodyPr/>
          <a:lstStyle/>
          <a:p>
            <a:r>
              <a:rPr sz="1400">
                <a:latin typeface="Arial"/>
              </a:rPr>
              <a:t>Good morning, respected judges and faculty. Welcome to our presentation of CampusSOS. Campus safety is the foundation of academic life, yet traditional safety mechanisms on university campuses are often fragmented, slow, or intimidating for students to use. Today, we are presenting CampusSOS—a fully functional, privacy-first web application designed to connect students, safety officers, medical responders, and campus administrators into a unified, reliable safety ecosystem.</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x="0" y="0"/>
          <a:chOff x="0" y="0"/>
          <a:chExt x="0" y="0"/>
        </a:xfrm>
      </p:grpSpPr>
      <p:sp>
        <p:nvSpPr>
          <p:cNvPr id="2" name="NotesBody"/>
          <p:cNvSpPr/>
          <p:nvPr/>
        </p:nvSpPr>
        <p:spPr>
          <a:xfrm>
            <a:off x="685800" y="1143000"/>
            <a:ext x="5486400" y="6858000"/>
          </a:xfrm>
          <a:prstGeom prst="rect">
            <a:avLst/>
          </a:prstGeom>
          <a:noFill/>
        </p:spPr>
        <p:txBody>
          <a:bodyPr/>
          <a:lstStyle/>
          <a:p>
            <a:r>
              <a:rPr sz="1400">
                <a:latin typeface="Arial"/>
              </a:rPr>
              <a:t>When an incident happens on a typical university campus, two problems immediately arise. First, in genuine life-safety emergencies, traditional phone calls or manual dispatch can delay medical or security help. Second, when students face sensitive issues—such as hazing or harassment—they frequently stay silent because they do not trust that their identity will be protected. Furthermore, during routine campus disruptions, like electrical failures, dispatchers receive dozens of duplicate reports with no automated correlation.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x="0" y="0"/>
          <a:chOff x="0" y="0"/>
          <a:chExt x="0" y="0"/>
        </a:xfrm>
      </p:grpSpPr>
      <p:sp>
        <p:nvSpPr>
          <p:cNvPr id="2" name="NotesBody"/>
          <p:cNvSpPr/>
          <p:nvPr/>
        </p:nvSpPr>
        <p:spPr>
          <a:xfrm>
            <a:off x="685800" y="1143000"/>
            <a:ext x="5486400" y="6858000"/>
          </a:xfrm>
          <a:prstGeom prst="rect">
            <a:avLst/>
          </a:prstGeom>
          <a:noFill/>
        </p:spPr>
        <p:txBody>
          <a:bodyPr/>
          <a:lstStyle/>
          <a:p>
            <a:r>
              <a:rPr sz="1400">
                <a:latin typeface="Arial"/>
              </a:rPr>
              <a:t>CampusSOS solves these challenges through a strict architectural separation of concerns. We establish two distinct pathways: First, a zero-latency Emergency SOS pathway for urgent life safety. Second, a structured safety concern portal supporting identified, anonymous, and confidential reporting. By serving students, emergency responders, and campus administrators through specialized interfaces, CampusSOS eliminates confusion during crises.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x="0" y="0"/>
          <a:chOff x="0" y="0"/>
          <a:chExt x="0" y="0"/>
        </a:xfrm>
      </p:grpSpPr>
      <p:sp>
        <p:nvSpPr>
          <p:cNvPr id="2" name="NotesBody"/>
          <p:cNvSpPr/>
          <p:nvPr/>
        </p:nvSpPr>
        <p:spPr>
          <a:xfrm>
            <a:off x="685800" y="1143000"/>
            <a:ext x="5486400" y="6858000"/>
          </a:xfrm>
          <a:prstGeom prst="rect">
            <a:avLst/>
          </a:prstGeom>
          <a:noFill/>
        </p:spPr>
        <p:txBody>
          <a:bodyPr/>
          <a:lstStyle/>
          <a:p>
            <a:r>
              <a:rPr sz="1400">
                <a:latin typeface="Arial"/>
              </a:rPr>
              <a:t>For students, CampusSOS delivers clarity and peace of mind. A student can report an electrical hazard with their identity attached to receive notifications, or report a safety concern completely anonymously. For sensitive matters like anti-ragging or sexual harassment, reports are strictly confidential. Students can follow the progress of their concern through a live status timeline without needing to make follow-up phone calls.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x="0" y="0"/>
          <a:chOff x="0" y="0"/>
          <a:chExt x="0" y="0"/>
        </a:xfrm>
      </p:grpSpPr>
      <p:sp>
        <p:nvSpPr>
          <p:cNvPr id="2" name="NotesBody"/>
          <p:cNvSpPr/>
          <p:nvPr/>
        </p:nvSpPr>
        <p:spPr>
          <a:xfrm>
            <a:off x="685800" y="1143000"/>
            <a:ext x="5486400" y="6858000"/>
          </a:xfrm>
          <a:prstGeom prst="rect">
            <a:avLst/>
          </a:prstGeom>
          <a:noFill/>
        </p:spPr>
        <p:txBody>
          <a:bodyPr/>
          <a:lstStyle/>
          <a:p>
            <a:r>
              <a:rPr sz="1400">
                <a:latin typeface="Arial"/>
              </a:rPr>
              <a:t>Let us look at our life-safety workflow. In an emergency, reliability is paramount. A single floating SOS button is available across the internal portal. When clicked, it requests a quick location confirmation and executes in less than 4 milliseconds. Crucially: Emergency SOS never depends on an external AI API. Life safety requires deterministic local execution. Responders receive the alert, acknowledge it, and update their on-scene status in real time.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x="0" y="0"/>
          <a:chOff x="0" y="0"/>
          <a:chExt x="0" y="0"/>
        </a:xfrm>
      </p:grpSpPr>
      <p:sp>
        <p:nvSpPr>
          <p:cNvPr id="2" name="NotesBody"/>
          <p:cNvSpPr/>
          <p:nvPr/>
        </p:nvSpPr>
        <p:spPr>
          <a:xfrm>
            <a:off x="685800" y="1143000"/>
            <a:ext x="5486400" y="6858000"/>
          </a:xfrm>
          <a:prstGeom prst="rect">
            <a:avLst/>
          </a:prstGeom>
          <a:noFill/>
        </p:spPr>
        <p:txBody>
          <a:bodyPr/>
          <a:lstStyle/>
          <a:p>
            <a:r>
              <a:rPr sz="1400">
                <a:latin typeface="Arial"/>
              </a:rPr>
              <a:t>One of our most critical engineering achievements is our privacy architecture. For anonymous reporting, the database column for reporter user ID is stored and returned as NULL, making it technically impossible for dispatchers to accidentally reveal the student's name. For confidential cases, records are cryptographically isolated so that general security or facility staff cannot view the narrative. Furthermore, confidential reports are never transmitted to external AI services.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x="0" y="0"/>
          <a:chOff x="0" y="0"/>
          <a:chExt x="0" y="0"/>
        </a:xfrm>
      </p:grpSpPr>
      <p:sp>
        <p:nvSpPr>
          <p:cNvPr id="2" name="NotesBody"/>
          <p:cNvSpPr/>
          <p:nvPr/>
        </p:nvSpPr>
        <p:spPr>
          <a:xfrm>
            <a:off x="685800" y="1143000"/>
            <a:ext x="5486400" y="6858000"/>
          </a:xfrm>
          <a:prstGeom prst="rect">
            <a:avLst/>
          </a:prstGeom>
          <a:noFill/>
        </p:spPr>
        <p:txBody>
          <a:bodyPr/>
          <a:lstStyle/>
          <a:p>
            <a:r>
              <a:rPr sz="1400">
                <a:latin typeface="Arial"/>
              </a:rPr>
              <a:t>When an incident like a water leak or power cut occurs, dispatchers often receive multiple reports for the same problem. Rather than using an opaque black-box model, CampusSOS uses a transparent weighted algorithm evaluating category, geographic proximity, time, and keyword overlap. Candidate matches scoring 0.60 or higher appear in the Admin Console. Crucially, we enforce a strict human-in-the-loop policy: the system never merges or deletes reports automatically; dispatchers review the evidence side-by-side and make the final decision.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x="0" y="0"/>
          <a:chOff x="0" y="0"/>
          <a:chExt x="0" y="0"/>
        </a:xfrm>
      </p:grpSpPr>
      <p:sp>
        <p:nvSpPr>
          <p:cNvPr id="2" name="NotesBody"/>
          <p:cNvSpPr/>
          <p:nvPr/>
        </p:nvSpPr>
        <p:spPr>
          <a:xfrm>
            <a:off x="685800" y="1143000"/>
            <a:ext x="5486400" y="6858000"/>
          </a:xfrm>
          <a:prstGeom prst="rect">
            <a:avLst/>
          </a:prstGeom>
          <a:noFill/>
        </p:spPr>
        <p:txBody>
          <a:bodyPr/>
          <a:lstStyle/>
          <a:p>
            <a:r>
              <a:rPr sz="1400">
                <a:latin typeface="Arial"/>
              </a:rPr>
              <a:t>Our technology stack was selected for reliability, speed, and real-world deployability. The frontend is built in React 18 with TypeScript and Vite, communicating via typed API clients. The backend is a modular PHP 8.2 REST API using native PDO prepared statements for total SQL-injection protection. Sessions are managed through server-side HttpOnly cookies with CSRF validation. MySQL provides strict relational integrity across 13 InnoDB tables. Optional AI is isolated as a non-critical enhancement with local fallback.</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x="0" y="0"/>
          <a:chOff x="0" y="0"/>
          <a:chExt x="0" y="0"/>
        </a:xfrm>
      </p:grpSpPr>
      <p:sp>
        <p:nvSpPr>
          <p:cNvPr id="2" name="NotesBody"/>
          <p:cNvSpPr/>
          <p:nvPr/>
        </p:nvSpPr>
        <p:spPr>
          <a:xfrm>
            <a:off x="685800" y="1143000"/>
            <a:ext x="5486400" y="6858000"/>
          </a:xfrm>
          <a:prstGeom prst="rect">
            <a:avLst/>
          </a:prstGeom>
          <a:noFill/>
        </p:spPr>
        <p:txBody>
          <a:bodyPr/>
          <a:lstStyle/>
          <a:p>
            <a:r>
              <a:rPr sz="1400">
                <a:latin typeface="Arial"/>
              </a:rPr>
              <a:t>Security is not an afterthought in CampusSOS. We enforce zero-trust role assignment: public registration can only create student accounts, preventing privilege escalation. Sessions are protected against fixation and CSRF attacks. If external AI connectivity drops or quotas are exceeded, our built-in keyword heuristic engine takes over in under 2 milliseconds, ensuring that emergency intake never fails. All server exceptions are sanitized to avoid leaking sensitive infrastructure data.</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x="0" y="0"/>
          <a:chOff x="0" y="0"/>
          <a:chExt x="0" y="0"/>
        </a:xfrm>
      </p:grpSpPr>
      <p:sp>
        <p:nvSpPr>
          <p:cNvPr id="2" name="NotesBody"/>
          <p:cNvSpPr/>
          <p:nvPr/>
        </p:nvSpPr>
        <p:spPr>
          <a:xfrm>
            <a:off x="685800" y="1143000"/>
            <a:ext x="5486400" y="6858000"/>
          </a:xfrm>
          <a:prstGeom prst="rect">
            <a:avLst/>
          </a:prstGeom>
          <a:noFill/>
        </p:spPr>
        <p:txBody>
          <a:bodyPr/>
          <a:lstStyle/>
          <a:p>
            <a:r>
              <a:rPr sz="1400">
                <a:latin typeface="Arial"/>
              </a:rPr>
              <a:t>We believe in rigorous engineering verification. We have authored and executed six dedicated automated test suites comprising 94 total tests. These suites verify input sanitization, role permissions, sub-millisecond SOS dispatch, duplicate matching constraints, and error handling. Our frontend compiles with zero TypeScript errors, and our backend passes comprehensive syntax linting. Everything demonstrated today is backed by automated test coverage.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x="0" y="0"/>
          <a:chOff x="0" y="0"/>
          <a:chExt x="0" y="0"/>
        </a:xfrm>
      </p:grpSpPr>
      <p:sp>
        <p:nvSpPr>
          <p:cNvPr id="2" name="NotesBody"/>
          <p:cNvSpPr/>
          <p:nvPr/>
        </p:nvSpPr>
        <p:spPr>
          <a:xfrm>
            <a:off x="685800" y="1143000"/>
            <a:ext x="5486400" y="6858000"/>
          </a:xfrm>
          <a:prstGeom prst="rect">
            <a:avLst/>
          </a:prstGeom>
          <a:noFill/>
        </p:spPr>
        <p:txBody>
          <a:bodyPr/>
          <a:lstStyle/>
          <a:p>
            <a:r>
              <a:rPr sz="1400">
                <a:latin typeface="Arial"/>
              </a:rPr>
              <a:t>To maintain engineering honesty, we clearly distinguish our current release from future enhancements. Today, our system manages internal campus alert routing and simulates SMS dispatch through database notifications. In the future, we plan to integrate live telecom SMS gateways like Twilio, embed WebRTC audio for two-way dispatcher communication, and wrap our React frontend into a native mobile app with continuous GPS geofencing.</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x="0" y="0"/>
          <a:chOff x="0" y="0"/>
          <a:chExt x="0" y="0"/>
        </a:xfrm>
      </p:grpSpPr>
      <p:sp>
        <p:nvSpPr>
          <p:cNvPr id="2" name="NotesBody"/>
          <p:cNvSpPr/>
          <p:nvPr/>
        </p:nvSpPr>
        <p:spPr>
          <a:xfrm>
            <a:off x="685800" y="1143000"/>
            <a:ext x="5486400" y="6858000"/>
          </a:xfrm>
          <a:prstGeom prst="rect">
            <a:avLst/>
          </a:prstGeom>
          <a:noFill/>
        </p:spPr>
        <p:txBody>
          <a:bodyPr/>
          <a:lstStyle/>
          <a:p>
            <a:r>
              <a:rPr sz="1400">
                <a:latin typeface="Arial"/>
              </a:rPr>
              <a:t>In conclusion, CampusSOS demonstrates that modern web technologies can provide enterprise-grade safety tools tailored for student welfare. By prioritizing deterministic dispatch, ironclad privacy, and transparent algorithms with human review, CampusSOS makes campuses safer, more responsive, and more accountable. Thank you for your time, and we are now excited to demonstrate the live application.</a:t>
            </a:r>
          </a:p>
        </p:txBody>
      </p:sp>
    </p:spTree>
  </p:cSld>
  <p:clrMapOvr>
    <a:masterClrMapping/>
  </p:clrMapOvr>
</p:note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p:spTree>
      <p:nvGrpSpPr>
        <p:cNvPr id="1" name=""/>
        <p:cNvGrpSpPr/>
        <p:nvPr/>
      </p:nvGrpSpPr>
      <p:grpSpPr>
        <a:xfrm>
          <a:off x="0" y="0"/>
          <a:ext x="0" y="0"/>
          <a:chOff x="0" y="0"/>
          <a:chExt x="0" y="0"/>
        </a:xfrm>
      </p:grpSpPr>
    </p:spTree>
  </p:cSld>
  <p:clrMapOvr>
    <a:masterClrMapping/>
  </p:clrMapOvr>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DFBF4"/>
        </a:solidFill>
      </p:bgPr>
    </p:bg>
    <p:spTree>
      <p:nvGrpSpPr>
        <p:cNvPr id="1" name=""/>
        <p:cNvGrpSpPr/>
        <p:nvPr/>
      </p:nvGrpSpPr>
      <p:grpSpPr>
        <a:xfrm>
          <a:off x="0" y="0"/>
          <a:ext x="0" y="0"/>
          <a:chOff x="0" y="0"/>
          <a:chExt x="0" y="0"/>
        </a:xfrm>
      </p:grpSpPr>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x="0" y="0"/>
          <a:chOff x="0" y="0"/>
          <a:chExt x="0" y="0"/>
        </a:xfrm>
      </p:grpSpPr>
      <p:sp>
        <p:nvSpPr>
          <p:cNvPr id="2" name="Badge"/>
          <p:cNvSpPr/>
          <p:nvPr/>
        </p:nvSpPr>
        <p:spPr>
          <a:xfrm>
            <a:off x="609600" y="457200"/>
            <a:ext x="5486400" y="411480"/>
          </a:xfrm>
          <a:prstGeom prst="roundRect">
            <a:avLst>
              <a:gd name="adj" fmla="val 30000"/>
            </a:avLst>
          </a:prstGeom>
          <a:solidFill>
            <a:srgbClr val="D2FF1F"/>
          </a:solidFill>
          <a:ln w="25400">
            <a:solidFill>
              <a:srgbClr val="0F1115"/>
            </a:solidFill>
          </a:ln>
        </p:spPr>
        <p:txBody>
          <a:bodyPr lIns="100000" tIns="50000" rIns="100000" bIns="50000" v="ctr"/>
          <a:lstStyle/>
          <a:p>
            <a:pPr algn="l"/>
            <a:r>
              <a:rPr b="1" sz="1300">
                <a:solidFill>
                  <a:srgbClr val="0F1115"/>
                </a:solidFill>
                <a:latin typeface="Trebuchet MS"/>
              </a:rPr>
              <a:t>STUDENT PROJECT EXPO 2026 // FULL-STACK SAFETY PLATFORM</a:t>
            </a:r>
          </a:p>
        </p:txBody>
      </p:sp>
      <p:sp>
        <p:nvSpPr>
          <p:cNvPr id="3" name="Title"/>
          <p:cNvSpPr/>
          <p:nvPr/>
        </p:nvSpPr>
        <p:spPr>
          <a:xfrm>
            <a:off x="609600" y="960000"/>
            <a:ext x="10972800" y="1000000"/>
          </a:xfrm>
          <a:prstGeom prst="rect">
            <a:avLst/>
          </a:prstGeom>
          <a:noFill/>
        </p:spPr>
        <p:txBody>
          <a:bodyPr lIns="0" tIns="0" rIns="0" bIns="0"/>
          <a:lstStyle/>
          <a:p>
            <a:r>
              <a:rPr b="1" sz="3800">
                <a:solidFill>
                  <a:srgbClr val="0F1115"/>
                </a:solidFill>
                <a:latin typeface="Trebuchet MS"/>
              </a:rPr>
              <a:t>CampusSOS</a:t>
            </a:r>
          </a:p>
          <a:p>
            <a:r>
              <a:rPr sz="1800" i="1">
                <a:solidFill>
                  <a:srgbClr val="4A5059"/>
                </a:solidFill>
                <a:latin typeface="Arial"/>
              </a:rPr>
              <a:t>A Safer Campus, Together.</a:t>
            </a:r>
          </a:p>
        </p:txBody>
      </p:sp>
      <p:sp>
        <p:nvSpPr>
          <p:cNvPr id="4" name="HeroCard"/>
          <p:cNvSpPr/>
          <p:nvPr/>
        </p:nvSpPr>
        <p:spPr>
          <a:xfrm>
            <a:off x="609600" y="2400000"/>
            <a:ext x="10972800" y="3200000"/>
          </a:xfrm>
          <a:prstGeom prst="rect">
            <a:avLst/>
          </a:prstGeom>
          <a:solidFill>
            <a:srgbClr val="FFFFFF"/>
          </a:solidFill>
          <a:ln w="38100">
            <a:solidFill>
              <a:srgbClr val="0F1115"/>
            </a:solidFill>
          </a:ln>
        </p:spPr>
        <p:txBody>
          <a:bodyPr lIns="300000" tIns="300000" rIns="300000" bIns="300000"/>
          <a:lstStyle/>
          <a:p>
            <a:pPr spcBfr="100000" spcAft="150000"/>
            <a:r>
              <a:rPr b="1" sz="2400">
                <a:solidFill>
                  <a:srgbClr val="2554FF"/>
                </a:solidFill>
                <a:latin typeface="Trebuchet MS"/>
              </a:rPr>
              <a:t>Mission Overview</a:t>
            </a:r>
          </a:p>
          <a:p>
            <a:pPr spcAft="200000"/>
            <a:r>
              <a:rPr sz="2000">
                <a:solidFill>
                  <a:srgbClr val="0F1115"/>
                </a:solidFill>
                <a:latin typeface="Arial"/>
              </a:rPr>
              <a:t>Rapid Emergency Response, Confidential Incident Reporting &amp; Coordinated Campus Safety Operations.</a:t>
            </a:r>
          </a:p>
          <a:p>
            <a:pPr spcBfr="200000"/>
            <a:r>
              <a:rPr b="1" sz="1600">
                <a:solidFill>
                  <a:srgbClr val="4A5059"/>
                </a:solidFill>
                <a:latin typeface="Trebuchet MS"/>
              </a:rPr>
              <a:t>ENGINEERING FOUNDATION: </a:t>
            </a:r>
            <a:r>
              <a:rPr sz="1600" b="1">
                <a:solidFill>
                  <a:srgbClr val="0F1115"/>
                </a:solidFill>
                <a:latin typeface="Arial"/>
              </a:rPr>
              <a:t>React 18 · TypeScript · Vite · PHP 8.2+ · PDO · MySQL · XAMPP</a:t>
            </a:r>
          </a:p>
        </p:txBody>
      </p:sp>
      <p:sp>
        <p:nvSpPr>
          <p:cNvPr id="5" name="Footer"/>
          <p:cNvSpPr/>
          <p:nvPr/>
        </p:nvSpPr>
        <p:spPr>
          <a:xfrm>
            <a:off x="609600" y="6250000"/>
            <a:ext x="10972800" y="300000"/>
          </a:xfrm>
          <a:prstGeom prst="rect">
            <a:avLst/>
          </a:prstGeom>
          <a:noFill/>
        </p:spPr>
        <p:txBody>
          <a:bodyPr lIns="0" tIns="0" rIns="0" bIns="0"/>
          <a:lstStyle/>
          <a:p>
            <a:pPr algn="r"/>
            <a:r>
              <a:rPr b="1" sz="1200">
                <a:solidFill>
                  <a:srgbClr val="4A5059"/>
                </a:solidFill>
                <a:latin typeface="Trebuchet MS"/>
              </a:rPr>
              <a:t>CampusSOS Expo 2026 | Slide 1 of 12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x="0" y="0"/>
          <a:chOff x="0" y="0"/>
          <a:chExt x="0" y="0"/>
        </a:xfrm>
      </p:grpSpPr>
      <p:sp>
        <p:nvSpPr>
          <p:cNvPr id="2" name="Badge"/>
          <p:cNvSpPr/>
          <p:nvPr/>
        </p:nvSpPr>
        <p:spPr>
          <a:xfrm>
            <a:off x="609600" y="457200"/>
            <a:ext x="5486400" y="411480"/>
          </a:xfrm>
          <a:prstGeom prst="roundRect">
            <a:avLst>
              <a:gd name="adj" fmla="val 30000"/>
            </a:avLst>
          </a:prstGeom>
          <a:solidFill>
            <a:srgbClr val="D2FF1F"/>
          </a:solidFill>
          <a:ln w="25400">
            <a:solidFill>
              <a:srgbClr val="0F1115"/>
            </a:solidFill>
          </a:ln>
        </p:spPr>
        <p:txBody>
          <a:bodyPr lIns="100000" tIns="50000" rIns="100000" bIns="50000" v="ctr"/>
          <a:lstStyle/>
          <a:p>
            <a:pPr algn="l"/>
            <a:r>
              <a:rPr b="1" sz="1300">
                <a:solidFill>
                  <a:srgbClr val="0F1115"/>
                </a:solidFill>
                <a:latin typeface="Trebuchet MS"/>
              </a:rPr>
              <a:t>PROBLEM STATEMENT</a:t>
            </a:r>
          </a:p>
        </p:txBody>
      </p:sp>
      <p:sp>
        <p:nvSpPr>
          <p:cNvPr id="3" name="Title"/>
          <p:cNvSpPr/>
          <p:nvPr/>
        </p:nvSpPr>
        <p:spPr>
          <a:xfrm>
            <a:off x="609600" y="960000"/>
            <a:ext x="10972800" y="1000000"/>
          </a:xfrm>
          <a:prstGeom prst="rect">
            <a:avLst/>
          </a:prstGeom>
          <a:noFill/>
        </p:spPr>
        <p:txBody>
          <a:bodyPr lIns="0" tIns="0" rIns="0" bIns="0"/>
          <a:lstStyle/>
          <a:p>
            <a:r>
              <a:rPr b="1" sz="3800">
                <a:solidFill>
                  <a:srgbClr val="0F1115"/>
                </a:solidFill>
                <a:latin typeface="Trebuchet MS"/>
              </a:rPr>
              <a:t>The Realities of Campus Safety Breakdown</a:t>
            </a:r>
          </a:p>
          <a:p>
            <a:r>
              <a:rPr sz="1800" i="1">
                <a:solidFill>
                  <a:srgbClr val="4A5059"/>
                </a:solidFill>
                <a:latin typeface="Arial"/>
              </a:rPr>
              <a:t>Three Critical Failure Modes in Traditional Campus Safety</a:t>
            </a:r>
          </a:p>
        </p:txBody>
      </p:sp>
      <p:sp>
        <p:nvSpPr>
          <p:cNvPr id="4" name="Card1"/>
          <p:cNvSpPr/>
          <p:nvPr/>
        </p:nvSpPr>
        <p:spPr>
          <a:xfrm>
            <a:off x="609600" y="2200000"/>
            <a:ext x="3450000" y="3800000"/>
          </a:xfrm>
          <a:prstGeom prst="rect">
            <a:avLst/>
          </a:prstGeom>
          <a:solidFill>
            <a:srgbClr val="FFFFFF"/>
          </a:solidFill>
          <a:ln w="31750">
            <a:solidFill>
              <a:srgbClr val="0F1115"/>
            </a:solidFill>
          </a:ln>
        </p:spPr>
        <p:txBody>
          <a:bodyPr lIns="200000" tIns="200000" rIns="200000" bIns="200000"/>
          <a:lstStyle/>
          <a:p>
            <a:pPr spcAft="120000"/>
            <a:r>
              <a:rPr b="1" sz="1800">
                <a:solidFill>
                  <a:srgbClr val="FF5A36"/>
                </a:solidFill>
                <a:latin typeface="Trebuchet MS"/>
              </a:rPr>
              <a:t>01. Delayed Emergency Response</a:t>
            </a:r>
          </a:p>
          <a:p>
            <a:r>
              <a:rPr sz="1500">
                <a:solidFill>
                  <a:srgbClr val="0F1115"/>
                </a:solidFill>
                <a:latin typeface="Arial"/>
              </a:rPr>
              <a:t>Traditional phone calls or paper logs introduce human routing latency. In cardiac or security crises, every second compounds danger.</a:t>
            </a:r>
          </a:p>
        </p:txBody>
      </p:sp>
      <p:sp>
        <p:nvSpPr>
          <p:cNvPr id="5" name="Card2"/>
          <p:cNvSpPr/>
          <p:nvPr/>
        </p:nvSpPr>
        <p:spPr>
          <a:xfrm>
            <a:off x="4371000" y="2200000"/>
            <a:ext x="3450000" y="3800000"/>
          </a:xfrm>
          <a:prstGeom prst="rect">
            <a:avLst/>
          </a:prstGeom>
          <a:solidFill>
            <a:srgbClr val="FFFFFF"/>
          </a:solidFill>
          <a:ln w="31750">
            <a:solidFill>
              <a:srgbClr val="0F1115"/>
            </a:solidFill>
          </a:ln>
        </p:spPr>
        <p:txBody>
          <a:bodyPr lIns="200000" tIns="200000" rIns="200000" bIns="200000"/>
          <a:lstStyle/>
          <a:p>
            <a:pPr spcAft="120000"/>
            <a:r>
              <a:rPr b="1" sz="1800">
                <a:solidFill>
                  <a:srgbClr val="8655FE"/>
                </a:solidFill>
                <a:latin typeface="Trebuchet MS"/>
              </a:rPr>
              <a:t>02. Fear of Retaliation &amp; Under-Reporting</a:t>
            </a:r>
          </a:p>
          <a:p>
            <a:r>
              <a:rPr sz="1500">
                <a:solidFill>
                  <a:srgbClr val="0F1115"/>
                </a:solidFill>
                <a:latin typeface="Arial"/>
              </a:rPr>
              <a:t>Up to 80% of harassment, bullying, and hazing incidents go unreported due to fear of academic or social stigma and lack of true confidentiality.</a:t>
            </a:r>
          </a:p>
        </p:txBody>
      </p:sp>
      <p:sp>
        <p:nvSpPr>
          <p:cNvPr id="6" name="Card3"/>
          <p:cNvSpPr/>
          <p:nvPr/>
        </p:nvSpPr>
        <p:spPr>
          <a:xfrm>
            <a:off x="8132400" y="2200000"/>
            <a:ext x="3450000" y="3800000"/>
          </a:xfrm>
          <a:prstGeom prst="rect">
            <a:avLst/>
          </a:prstGeom>
          <a:solidFill>
            <a:srgbClr val="FFFFFF"/>
          </a:solidFill>
          <a:ln w="31750">
            <a:solidFill>
              <a:srgbClr val="0F1115"/>
            </a:solidFill>
          </a:ln>
        </p:spPr>
        <p:txBody>
          <a:bodyPr lIns="200000" tIns="200000" rIns="200000" bIns="200000"/>
          <a:lstStyle/>
          <a:p>
            <a:pPr spcAft="120000"/>
            <a:r>
              <a:rPr b="1" sz="1800">
                <a:solidFill>
                  <a:srgbClr val="2554FF"/>
                </a:solidFill>
                <a:latin typeface="Trebuchet MS"/>
              </a:rPr>
              <a:t>03. Fragmented Dispatch &amp; Redundant Calls</a:t>
            </a:r>
          </a:p>
          <a:p>
            <a:r>
              <a:rPr sz="1500">
                <a:solidFill>
                  <a:srgbClr val="0F1115"/>
                </a:solidFill>
                <a:latin typeface="Arial"/>
              </a:rPr>
              <a:t>Security, Health Clinic, Fire, and Facilities operate in disconnected silos. Multiple calls for the same event create dispatcher chaos without unified triage.</a:t>
            </a:r>
          </a:p>
        </p:txBody>
      </p:sp>
      <p:sp>
        <p:nvSpPr>
          <p:cNvPr id="7" name="Footer"/>
          <p:cNvSpPr/>
          <p:nvPr/>
        </p:nvSpPr>
        <p:spPr>
          <a:xfrm>
            <a:off x="609600" y="6250000"/>
            <a:ext x="10972800" y="300000"/>
          </a:xfrm>
          <a:prstGeom prst="rect">
            <a:avLst/>
          </a:prstGeom>
          <a:noFill/>
        </p:spPr>
        <p:txBody>
          <a:bodyPr lIns="0" tIns="0" rIns="0" bIns="0"/>
          <a:lstStyle/>
          <a:p>
            <a:pPr algn="r"/>
            <a:r>
              <a:rPr b="1" sz="1200">
                <a:solidFill>
                  <a:srgbClr val="4A5059"/>
                </a:solidFill>
                <a:latin typeface="Trebuchet MS"/>
              </a:rPr>
              <a:t>CampusSOS Expo 2026 | Slide 2 of 12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x="0" y="0"/>
          <a:chOff x="0" y="0"/>
          <a:chExt x="0" y="0"/>
        </a:xfrm>
      </p:grpSpPr>
      <p:sp>
        <p:nvSpPr>
          <p:cNvPr id="2" name="Badge"/>
          <p:cNvSpPr/>
          <p:nvPr/>
        </p:nvSpPr>
        <p:spPr>
          <a:xfrm>
            <a:off x="609600" y="457200"/>
            <a:ext x="5486400" y="411480"/>
          </a:xfrm>
          <a:prstGeom prst="roundRect">
            <a:avLst>
              <a:gd name="adj" fmla="val 30000"/>
            </a:avLst>
          </a:prstGeom>
          <a:solidFill>
            <a:srgbClr val="D2FF1F"/>
          </a:solidFill>
          <a:ln w="25400">
            <a:solidFill>
              <a:srgbClr val="0F1115"/>
            </a:solidFill>
          </a:ln>
        </p:spPr>
        <p:txBody>
          <a:bodyPr lIns="100000" tIns="50000" rIns="100000" bIns="50000" v="ctr"/>
          <a:lstStyle/>
          <a:p>
            <a:pPr algn="l"/>
            <a:r>
              <a:rPr b="1" sz="1300">
                <a:solidFill>
                  <a:srgbClr val="0F1115"/>
                </a:solidFill>
                <a:latin typeface="Trebuchet MS"/>
              </a:rPr>
              <a:t>SOLUTION OVERVIEW</a:t>
            </a:r>
          </a:p>
        </p:txBody>
      </p:sp>
      <p:sp>
        <p:nvSpPr>
          <p:cNvPr id="3" name="Title"/>
          <p:cNvSpPr/>
          <p:nvPr/>
        </p:nvSpPr>
        <p:spPr>
          <a:xfrm>
            <a:off x="609600" y="960000"/>
            <a:ext x="10972800" y="1000000"/>
          </a:xfrm>
          <a:prstGeom prst="rect">
            <a:avLst/>
          </a:prstGeom>
          <a:noFill/>
        </p:spPr>
        <p:txBody>
          <a:bodyPr lIns="0" tIns="0" rIns="0" bIns="0"/>
          <a:lstStyle/>
          <a:p>
            <a:r>
              <a:rPr b="1" sz="3800">
                <a:solidFill>
                  <a:srgbClr val="0F1115"/>
                </a:solidFill>
                <a:latin typeface="Trebuchet MS"/>
              </a:rPr>
              <a:t>Dual-Pathway Safety Architecture</a:t>
            </a:r>
          </a:p>
          <a:p>
            <a:r>
              <a:rPr sz="1800" i="1">
                <a:solidFill>
                  <a:srgbClr val="4A5059"/>
                </a:solidFill>
                <a:latin typeface="Arial"/>
              </a:rPr>
              <a:t>Clear Separation Between Urgent Life Safety and Routine Governance</a:t>
            </a:r>
          </a:p>
        </p:txBody>
      </p:sp>
      <p:sp>
        <p:nvSpPr>
          <p:cNvPr id="4" name="Card1"/>
          <p:cNvSpPr/>
          <p:nvPr/>
        </p:nvSpPr>
        <p:spPr>
          <a:xfrm>
            <a:off x="609600" y="2200000"/>
            <a:ext x="3450000" y="3800000"/>
          </a:xfrm>
          <a:prstGeom prst="rect">
            <a:avLst/>
          </a:prstGeom>
          <a:solidFill>
            <a:srgbClr val="FFFFFF"/>
          </a:solidFill>
          <a:ln w="31750">
            <a:solidFill>
              <a:srgbClr val="0F1115"/>
            </a:solidFill>
          </a:ln>
        </p:spPr>
        <p:txBody>
          <a:bodyPr lIns="200000" tIns="200000" rIns="200000" bIns="200000"/>
          <a:lstStyle/>
          <a:p>
            <a:pPr spcAft="120000"/>
            <a:r>
              <a:rPr b="1" sz="1800">
                <a:solidFill>
                  <a:srgbClr val="FF5A36"/>
                </a:solidFill>
                <a:latin typeface="Trebuchet MS"/>
              </a:rPr>
              <a:t>01. Emergency SOS Pathway</a:t>
            </a:r>
          </a:p>
          <a:p>
            <a:r>
              <a:rPr sz="1500">
                <a:solidFill>
                  <a:srgbClr val="0F1115"/>
                </a:solidFill>
                <a:latin typeface="Arial"/>
              </a:rPr>
              <a:t>Persistent floating SOS button · Sub-4ms deterministic dispatch · Concurrently alerts Campus Security &amp; Medical teams · ZERO cloud AI dependency.</a:t>
            </a:r>
          </a:p>
        </p:txBody>
      </p:sp>
      <p:sp>
        <p:nvSpPr>
          <p:cNvPr id="5" name="Card2"/>
          <p:cNvSpPr/>
          <p:nvPr/>
        </p:nvSpPr>
        <p:spPr>
          <a:xfrm>
            <a:off x="4371000" y="2200000"/>
            <a:ext x="3450000" y="3800000"/>
          </a:xfrm>
          <a:prstGeom prst="rect">
            <a:avLst/>
          </a:prstGeom>
          <a:solidFill>
            <a:srgbClr val="FFFFFF"/>
          </a:solidFill>
          <a:ln w="31750">
            <a:solidFill>
              <a:srgbClr val="0F1115"/>
            </a:solidFill>
          </a:ln>
        </p:spPr>
        <p:txBody>
          <a:bodyPr lIns="200000" tIns="200000" rIns="200000" bIns="200000"/>
          <a:lstStyle/>
          <a:p>
            <a:pPr spcAft="120000"/>
            <a:r>
              <a:rPr b="1" sz="1800">
                <a:solidFill>
                  <a:srgbClr val="8655FE"/>
                </a:solidFill>
                <a:latin typeface="Trebuchet MS"/>
              </a:rPr>
              <a:t>02. Routine &amp; Confidential Reporting</a:t>
            </a:r>
          </a:p>
          <a:p>
            <a:r>
              <a:rPr sz="1500">
                <a:solidFill>
                  <a:srgbClr val="0F1115"/>
                </a:solidFill>
                <a:latin typeface="Arial"/>
              </a:rPr>
              <a:t>Structured intake across 6 campus categories · Tiered privacy (Identified, Anonymous, Confidential) · Transparent duplicate detection with human review.</a:t>
            </a:r>
          </a:p>
        </p:txBody>
      </p:sp>
      <p:sp>
        <p:nvSpPr>
          <p:cNvPr id="6" name="Card3"/>
          <p:cNvSpPr/>
          <p:nvPr/>
        </p:nvSpPr>
        <p:spPr>
          <a:xfrm>
            <a:off x="8132400" y="2200000"/>
            <a:ext x="3450000" y="3800000"/>
          </a:xfrm>
          <a:prstGeom prst="rect">
            <a:avLst/>
          </a:prstGeom>
          <a:solidFill>
            <a:srgbClr val="FFFFFF"/>
          </a:solidFill>
          <a:ln w="31750">
            <a:solidFill>
              <a:srgbClr val="0F1115"/>
            </a:solidFill>
          </a:ln>
        </p:spPr>
        <p:txBody>
          <a:bodyPr lIns="200000" tIns="200000" rIns="200000" bIns="200000"/>
          <a:lstStyle/>
          <a:p>
            <a:pPr spcAft="120000"/>
            <a:r>
              <a:rPr b="1" sz="1800">
                <a:solidFill>
                  <a:srgbClr val="2554FF"/>
                </a:solidFill>
                <a:latin typeface="Trebuchet MS"/>
              </a:rPr>
              <a:t>03. Three Specialized User Roles</a:t>
            </a:r>
          </a:p>
          <a:p>
            <a:r>
              <a:rPr sz="1500">
                <a:solidFill>
                  <a:srgbClr val="0F1115"/>
                </a:solidFill>
                <a:latin typeface="Arial"/>
              </a:rPr>
              <a:t>Students: Frictionless concern logging &amp; live tracking · Responders: Discipline-scoped queues &amp; mobile actions · Admins: Central triage, duplicate resolution &amp; audit trail.</a:t>
            </a:r>
          </a:p>
        </p:txBody>
      </p:sp>
      <p:sp>
        <p:nvSpPr>
          <p:cNvPr id="7" name="Footer"/>
          <p:cNvSpPr/>
          <p:nvPr/>
        </p:nvSpPr>
        <p:spPr>
          <a:xfrm>
            <a:off x="609600" y="6250000"/>
            <a:ext x="10972800" y="300000"/>
          </a:xfrm>
          <a:prstGeom prst="rect">
            <a:avLst/>
          </a:prstGeom>
          <a:noFill/>
        </p:spPr>
        <p:txBody>
          <a:bodyPr lIns="0" tIns="0" rIns="0" bIns="0"/>
          <a:lstStyle/>
          <a:p>
            <a:pPr algn="r"/>
            <a:r>
              <a:rPr b="1" sz="1200">
                <a:solidFill>
                  <a:srgbClr val="4A5059"/>
                </a:solidFill>
                <a:latin typeface="Trebuchet MS"/>
              </a:rPr>
              <a:t>CampusSOS Expo 2026 | Slide 3 of 12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x="0" y="0"/>
          <a:chOff x="0" y="0"/>
          <a:chExt x="0" y="0"/>
        </a:xfrm>
      </p:grpSpPr>
      <p:sp>
        <p:nvSpPr>
          <p:cNvPr id="2" name="Badge"/>
          <p:cNvSpPr/>
          <p:nvPr/>
        </p:nvSpPr>
        <p:spPr>
          <a:xfrm>
            <a:off x="609600" y="457200"/>
            <a:ext x="5486400" y="411480"/>
          </a:xfrm>
          <a:prstGeom prst="roundRect">
            <a:avLst>
              <a:gd name="adj" fmla="val 30000"/>
            </a:avLst>
          </a:prstGeom>
          <a:solidFill>
            <a:srgbClr val="D2FF1F"/>
          </a:solidFill>
          <a:ln w="25400">
            <a:solidFill>
              <a:srgbClr val="0F1115"/>
            </a:solidFill>
          </a:ln>
        </p:spPr>
        <p:txBody>
          <a:bodyPr lIns="100000" tIns="50000" rIns="100000" bIns="50000" v="ctr"/>
          <a:lstStyle/>
          <a:p>
            <a:pPr algn="l"/>
            <a:r>
              <a:rPr b="1" sz="1300">
                <a:solidFill>
                  <a:srgbClr val="0F1115"/>
                </a:solidFill>
                <a:latin typeface="Trebuchet MS"/>
              </a:rPr>
              <a:t>STUDENT EXPERIENCE</a:t>
            </a:r>
          </a:p>
        </p:txBody>
      </p:sp>
      <p:sp>
        <p:nvSpPr>
          <p:cNvPr id="3" name="Title"/>
          <p:cNvSpPr/>
          <p:nvPr/>
        </p:nvSpPr>
        <p:spPr>
          <a:xfrm>
            <a:off x="609600" y="960000"/>
            <a:ext x="10972800" y="1000000"/>
          </a:xfrm>
          <a:prstGeom prst="rect">
            <a:avLst/>
          </a:prstGeom>
          <a:noFill/>
        </p:spPr>
        <p:txBody>
          <a:bodyPr lIns="0" tIns="0" rIns="0" bIns="0"/>
          <a:lstStyle/>
          <a:p>
            <a:r>
              <a:rPr b="1" sz="3800">
                <a:solidFill>
                  <a:srgbClr val="0F1115"/>
                </a:solidFill>
                <a:latin typeface="Trebuchet MS"/>
              </a:rPr>
              <a:t>Empowering Every Campus Member</a:t>
            </a:r>
          </a:p>
          <a:p>
            <a:r>
              <a:rPr sz="1800" i="1">
                <a:solidFill>
                  <a:srgbClr val="4A5059"/>
                </a:solidFill>
                <a:latin typeface="Arial"/>
              </a:rPr>
              <a:t>Four Distinct Reporting Pathways Tailored to Safety Context</a:t>
            </a:r>
          </a:p>
        </p:txBody>
      </p:sp>
      <p:sp>
        <p:nvSpPr>
          <p:cNvPr id="4" name="QuadCard1"/>
          <p:cNvSpPr/>
          <p:nvPr/>
        </p:nvSpPr>
        <p:spPr>
          <a:xfrm>
            <a:off x="609600" y="2200000"/>
            <a:ext x="5300000" y="1800000"/>
          </a:xfrm>
          <a:prstGeom prst="rect">
            <a:avLst/>
          </a:prstGeom>
          <a:solidFill>
            <a:srgbClr val="FFFFFF"/>
          </a:solidFill>
          <a:ln w="25400">
            <a:solidFill>
              <a:srgbClr val="0F1115"/>
            </a:solidFill>
          </a:ln>
        </p:spPr>
        <p:txBody>
          <a:bodyPr lIns="200000" tIns="150000" rIns="200000" bIns="150000"/>
          <a:lstStyle/>
          <a:p>
            <a:pPr spcAft="80000"/>
            <a:r>
              <a:rPr b="1" sz="1600">
                <a:solidFill>
                  <a:srgbClr val="2554FF"/>
                </a:solidFill>
                <a:latin typeface="Trebuchet MS"/>
              </a:rPr>
              <a:t>1. Identified Safety Reporting</a:t>
            </a:r>
          </a:p>
          <a:p>
            <a:r>
              <a:rPr sz="1350">
                <a:solidFill>
                  <a:srgbClr val="0F1115"/>
                </a:solidFill>
                <a:latin typeface="Arial"/>
              </a:rPr>
              <a:t>Authenticated submission for facilities, theft, or general concerns with personal tracking timeline and notification updates.</a:t>
            </a:r>
          </a:p>
        </p:txBody>
      </p:sp>
      <p:sp>
        <p:nvSpPr>
          <p:cNvPr id="5" name="QuadCard2"/>
          <p:cNvSpPr/>
          <p:nvPr/>
        </p:nvSpPr>
        <p:spPr>
          <a:xfrm>
            <a:off x="6282400" y="2200000"/>
            <a:ext x="5300000" y="1800000"/>
          </a:xfrm>
          <a:prstGeom prst="rect">
            <a:avLst/>
          </a:prstGeom>
          <a:solidFill>
            <a:srgbClr val="FFFFFF"/>
          </a:solidFill>
          <a:ln w="25400">
            <a:solidFill>
              <a:srgbClr val="0F1115"/>
            </a:solidFill>
          </a:ln>
        </p:spPr>
        <p:txBody>
          <a:bodyPr lIns="200000" tIns="150000" rIns="200000" bIns="150000"/>
          <a:lstStyle/>
          <a:p>
            <a:pPr spcAft="80000"/>
            <a:r>
              <a:rPr b="1" sz="1600">
                <a:solidFill>
                  <a:srgbClr val="FF5A36"/>
                </a:solidFill>
                <a:latin typeface="Trebuchet MS"/>
              </a:rPr>
              <a:t>2. Anonymous Reporting</a:t>
            </a:r>
          </a:p>
          <a:p>
            <a:r>
              <a:rPr sz="1350">
                <a:solidFill>
                  <a:srgbClr val="0F1115"/>
                </a:solidFill>
                <a:latin typeface="Arial"/>
              </a:rPr>
              <a:t>Zero-identity intake where student user ID is sanitized to NULL before database write. Visible as 'Anonymous Student'.</a:t>
            </a:r>
          </a:p>
        </p:txBody>
      </p:sp>
      <p:sp>
        <p:nvSpPr>
          <p:cNvPr id="6" name="QuadCard3"/>
          <p:cNvSpPr/>
          <p:nvPr/>
        </p:nvSpPr>
        <p:spPr>
          <a:xfrm>
            <a:off x="609600" y="4200000"/>
            <a:ext x="5300000" y="1800000"/>
          </a:xfrm>
          <a:prstGeom prst="rect">
            <a:avLst/>
          </a:prstGeom>
          <a:solidFill>
            <a:srgbClr val="FFFFFF"/>
          </a:solidFill>
          <a:ln w="25400">
            <a:solidFill>
              <a:srgbClr val="0F1115"/>
            </a:solidFill>
          </a:ln>
        </p:spPr>
        <p:txBody>
          <a:bodyPr lIns="200000" tIns="150000" rIns="200000" bIns="150000"/>
          <a:lstStyle/>
          <a:p>
            <a:pPr spcAft="80000"/>
            <a:r>
              <a:rPr b="1" sz="1600">
                <a:solidFill>
                  <a:srgbClr val="8655FE"/>
                </a:solidFill>
                <a:latin typeface="Trebuchet MS"/>
              </a:rPr>
              <a:t>3. Confidential Disciplinary Intake</a:t>
            </a:r>
          </a:p>
          <a:p>
            <a:r>
              <a:rPr sz="1350">
                <a:solidFill>
                  <a:srgbClr val="0F1115"/>
                </a:solidFill>
                <a:latin typeface="Arial"/>
              </a:rPr>
              <a:t>Isolated pathway for sensitive anti-ragging and sexual harassment reports. General security and facility staff are blocked from viewing.</a:t>
            </a:r>
          </a:p>
        </p:txBody>
      </p:sp>
      <p:sp>
        <p:nvSpPr>
          <p:cNvPr id="7" name="QuadCard4"/>
          <p:cNvSpPr/>
          <p:nvPr/>
        </p:nvSpPr>
        <p:spPr>
          <a:xfrm>
            <a:off x="6282400" y="4200000"/>
            <a:ext x="5300000" y="1800000"/>
          </a:xfrm>
          <a:prstGeom prst="rect">
            <a:avLst/>
          </a:prstGeom>
          <a:solidFill>
            <a:srgbClr val="FFFFFF"/>
          </a:solidFill>
          <a:ln w="25400">
            <a:solidFill>
              <a:srgbClr val="0F1115"/>
            </a:solidFill>
          </a:ln>
        </p:spPr>
        <p:txBody>
          <a:bodyPr lIns="200000" tIns="150000" rIns="200000" bIns="150000"/>
          <a:lstStyle/>
          <a:p>
            <a:pPr spcAft="80000"/>
            <a:r>
              <a:rPr b="1" sz="1600">
                <a:solidFill>
                  <a:srgbClr val="00B894"/>
                </a:solidFill>
                <a:latin typeface="Trebuchet MS"/>
              </a:rPr>
              <a:t>4. Real-Time Incident Tracker</a:t>
            </a:r>
          </a:p>
          <a:p>
            <a:r>
              <a:rPr sz="1350">
                <a:solidFill>
                  <a:srgbClr val="0F1115"/>
                </a:solidFill>
                <a:latin typeface="Arial"/>
              </a:rPr>
              <a:t>Chronological status transparency: reported -&gt; under_review -&gt; dispatched -&gt; in_progress -&gt; resolved.</a:t>
            </a:r>
          </a:p>
        </p:txBody>
      </p:sp>
      <p:sp>
        <p:nvSpPr>
          <p:cNvPr id="8" name="Footer"/>
          <p:cNvSpPr/>
          <p:nvPr/>
        </p:nvSpPr>
        <p:spPr>
          <a:xfrm>
            <a:off x="609600" y="6250000"/>
            <a:ext x="10972800" y="300000"/>
          </a:xfrm>
          <a:prstGeom prst="rect">
            <a:avLst/>
          </a:prstGeom>
          <a:noFill/>
        </p:spPr>
        <p:txBody>
          <a:bodyPr lIns="0" tIns="0" rIns="0" bIns="0"/>
          <a:lstStyle/>
          <a:p>
            <a:pPr algn="r"/>
            <a:r>
              <a:rPr b="1" sz="1200">
                <a:solidFill>
                  <a:srgbClr val="4A5059"/>
                </a:solidFill>
                <a:latin typeface="Trebuchet MS"/>
              </a:rPr>
              <a:t>CampusSOS Expo 2026 | Slide 4 of 12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x="0" y="0"/>
          <a:chOff x="0" y="0"/>
          <a:chExt x="0" y="0"/>
        </a:xfrm>
      </p:grpSpPr>
      <p:sp>
        <p:nvSpPr>
          <p:cNvPr id="2" name="Badge"/>
          <p:cNvSpPr/>
          <p:nvPr/>
        </p:nvSpPr>
        <p:spPr>
          <a:xfrm>
            <a:off x="609600" y="457200"/>
            <a:ext x="5486400" y="411480"/>
          </a:xfrm>
          <a:prstGeom prst="roundRect">
            <a:avLst>
              <a:gd name="adj" fmla="val 30000"/>
            </a:avLst>
          </a:prstGeom>
          <a:solidFill>
            <a:srgbClr val="D2FF1F"/>
          </a:solidFill>
          <a:ln w="25400">
            <a:solidFill>
              <a:srgbClr val="0F1115"/>
            </a:solidFill>
          </a:ln>
        </p:spPr>
        <p:txBody>
          <a:bodyPr lIns="100000" tIns="50000" rIns="100000" bIns="50000" v="ctr"/>
          <a:lstStyle/>
          <a:p>
            <a:pPr algn="l"/>
            <a:r>
              <a:rPr b="1" sz="1300">
                <a:solidFill>
                  <a:srgbClr val="0F1115"/>
                </a:solidFill>
                <a:latin typeface="Trebuchet MS"/>
              </a:rPr>
              <a:t>LIFE SAFETY WORKFLOW</a:t>
            </a:r>
          </a:p>
        </p:txBody>
      </p:sp>
      <p:sp>
        <p:nvSpPr>
          <p:cNvPr id="3" name="Title"/>
          <p:cNvSpPr/>
          <p:nvPr/>
        </p:nvSpPr>
        <p:spPr>
          <a:xfrm>
            <a:off x="609600" y="960000"/>
            <a:ext x="10972800" y="1000000"/>
          </a:xfrm>
          <a:prstGeom prst="rect">
            <a:avLst/>
          </a:prstGeom>
          <a:noFill/>
        </p:spPr>
        <p:txBody>
          <a:bodyPr lIns="0" tIns="0" rIns="0" bIns="0"/>
          <a:lstStyle/>
          <a:p>
            <a:r>
              <a:rPr b="1" sz="3800">
                <a:solidFill>
                  <a:srgbClr val="0F1115"/>
                </a:solidFill>
                <a:latin typeface="Trebuchet MS"/>
              </a:rPr>
              <a:t>Emergency SOS: Zero Delay, Zero Guesswork</a:t>
            </a:r>
          </a:p>
          <a:p>
            <a:r>
              <a:rPr sz="1800" i="1">
                <a:solidFill>
                  <a:srgbClr val="4A5059"/>
                </a:solidFill>
                <a:latin typeface="Arial"/>
              </a:rPr>
              <a:t>Deterministic Local Dispatch Built for Life-Safety Reliability</a:t>
            </a:r>
          </a:p>
        </p:txBody>
      </p:sp>
      <p:sp>
        <p:nvSpPr>
          <p:cNvPr id="4" name="QuadCard1"/>
          <p:cNvSpPr/>
          <p:nvPr/>
        </p:nvSpPr>
        <p:spPr>
          <a:xfrm>
            <a:off x="609600" y="2200000"/>
            <a:ext x="5300000" y="1800000"/>
          </a:xfrm>
          <a:prstGeom prst="rect">
            <a:avLst/>
          </a:prstGeom>
          <a:solidFill>
            <a:srgbClr val="FFFFFF"/>
          </a:solidFill>
          <a:ln w="25400">
            <a:solidFill>
              <a:srgbClr val="0F1115"/>
            </a:solidFill>
          </a:ln>
        </p:spPr>
        <p:txBody>
          <a:bodyPr lIns="200000" tIns="150000" rIns="200000" bIns="150000"/>
          <a:lstStyle/>
          <a:p>
            <a:pPr spcAft="80000"/>
            <a:r>
              <a:rPr b="1" sz="1600">
                <a:solidFill>
                  <a:srgbClr val="2554FF"/>
                </a:solidFill>
                <a:latin typeface="Trebuchet MS"/>
              </a:rPr>
              <a:t>1. Persistent Accessible Trigger</a:t>
            </a:r>
          </a:p>
          <a:p>
            <a:r>
              <a:rPr sz="1350">
                <a:solidFill>
                  <a:srgbClr val="0F1115"/>
                </a:solidFill>
                <a:latin typeface="Arial"/>
              </a:rPr>
              <a:t>Floating high-contrast SOS button present throughout portal; one-click modal confirmation with campus building selection.</a:t>
            </a:r>
          </a:p>
        </p:txBody>
      </p:sp>
      <p:sp>
        <p:nvSpPr>
          <p:cNvPr id="5" name="QuadCard2"/>
          <p:cNvSpPr/>
          <p:nvPr/>
        </p:nvSpPr>
        <p:spPr>
          <a:xfrm>
            <a:off x="6282400" y="2200000"/>
            <a:ext x="5300000" y="1800000"/>
          </a:xfrm>
          <a:prstGeom prst="rect">
            <a:avLst/>
          </a:prstGeom>
          <a:solidFill>
            <a:srgbClr val="FFFFFF"/>
          </a:solidFill>
          <a:ln w="25400">
            <a:solidFill>
              <a:srgbClr val="0F1115"/>
            </a:solidFill>
          </a:ln>
        </p:spPr>
        <p:txBody>
          <a:bodyPr lIns="200000" tIns="150000" rIns="200000" bIns="150000"/>
          <a:lstStyle/>
          <a:p>
            <a:pPr spcAft="80000"/>
            <a:r>
              <a:rPr b="1" sz="1600">
                <a:solidFill>
                  <a:srgbClr val="FF5A36"/>
                </a:solidFill>
                <a:latin typeface="Trebuchet MS"/>
              </a:rPr>
              <a:t>2. Sub-4ms Deterministic Dispatch</a:t>
            </a:r>
          </a:p>
          <a:p>
            <a:r>
              <a:rPr sz="1350">
                <a:solidFill>
                  <a:srgbClr val="0F1115"/>
                </a:solidFill>
                <a:latin typeface="Arial"/>
              </a:rPr>
              <a:t>Direct database write with immediate notification generation. Bypasses all AI queues and external network dependencies.</a:t>
            </a:r>
          </a:p>
        </p:txBody>
      </p:sp>
      <p:sp>
        <p:nvSpPr>
          <p:cNvPr id="6" name="QuadCard3"/>
          <p:cNvSpPr/>
          <p:nvPr/>
        </p:nvSpPr>
        <p:spPr>
          <a:xfrm>
            <a:off x="609600" y="4200000"/>
            <a:ext x="5300000" y="1800000"/>
          </a:xfrm>
          <a:prstGeom prst="rect">
            <a:avLst/>
          </a:prstGeom>
          <a:solidFill>
            <a:srgbClr val="FFFFFF"/>
          </a:solidFill>
          <a:ln w="25400">
            <a:solidFill>
              <a:srgbClr val="0F1115"/>
            </a:solidFill>
          </a:ln>
        </p:spPr>
        <p:txBody>
          <a:bodyPr lIns="200000" tIns="150000" rIns="200000" bIns="150000"/>
          <a:lstStyle/>
          <a:p>
            <a:pPr spcAft="80000"/>
            <a:r>
              <a:rPr b="1" sz="1600">
                <a:solidFill>
                  <a:srgbClr val="8655FE"/>
                </a:solidFill>
                <a:latin typeface="Trebuchet MS"/>
              </a:rPr>
              <a:t>3. Simultaneous Dual-Unit Alert</a:t>
            </a:r>
          </a:p>
          <a:p>
            <a:r>
              <a:rPr sz="1350">
                <a:solidFill>
                  <a:srgbClr val="0F1115"/>
                </a:solidFill>
                <a:latin typeface="Arial"/>
              </a:rPr>
              <a:t>Concurrently alerts Campus Security Quick Reaction Team and Campus Medical Paramedic Unit with high-visibility siren banners.</a:t>
            </a:r>
          </a:p>
        </p:txBody>
      </p:sp>
      <p:sp>
        <p:nvSpPr>
          <p:cNvPr id="7" name="QuadCard4"/>
          <p:cNvSpPr/>
          <p:nvPr/>
        </p:nvSpPr>
        <p:spPr>
          <a:xfrm>
            <a:off x="6282400" y="4200000"/>
            <a:ext x="5300000" y="1800000"/>
          </a:xfrm>
          <a:prstGeom prst="rect">
            <a:avLst/>
          </a:prstGeom>
          <a:solidFill>
            <a:srgbClr val="FFFFFF"/>
          </a:solidFill>
          <a:ln w="25400">
            <a:solidFill>
              <a:srgbClr val="0F1115"/>
            </a:solidFill>
          </a:ln>
        </p:spPr>
        <p:txBody>
          <a:bodyPr lIns="200000" tIns="150000" rIns="200000" bIns="150000"/>
          <a:lstStyle/>
          <a:p>
            <a:pPr spcAft="80000"/>
            <a:r>
              <a:rPr b="1" sz="1600">
                <a:solidFill>
                  <a:srgbClr val="00B894"/>
                </a:solidFill>
                <a:latin typeface="Trebuchet MS"/>
              </a:rPr>
              <a:t>4. Strict Responder State Machine</a:t>
            </a:r>
          </a:p>
          <a:p>
            <a:r>
              <a:rPr sz="1350">
                <a:solidFill>
                  <a:srgbClr val="0F1115"/>
                </a:solidFill>
                <a:latin typeface="Arial"/>
              </a:rPr>
              <a:t>Enforces valid state transitions: triggered -&gt; acknowledged -&gt; dispatched -&gt; resolved (or false_alarm).</a:t>
            </a:r>
          </a:p>
        </p:txBody>
      </p:sp>
      <p:sp>
        <p:nvSpPr>
          <p:cNvPr id="8" name="Footer"/>
          <p:cNvSpPr/>
          <p:nvPr/>
        </p:nvSpPr>
        <p:spPr>
          <a:xfrm>
            <a:off x="609600" y="6250000"/>
            <a:ext x="10972800" y="300000"/>
          </a:xfrm>
          <a:prstGeom prst="rect">
            <a:avLst/>
          </a:prstGeom>
          <a:noFill/>
        </p:spPr>
        <p:txBody>
          <a:bodyPr lIns="0" tIns="0" rIns="0" bIns="0"/>
          <a:lstStyle/>
          <a:p>
            <a:pPr algn="r"/>
            <a:r>
              <a:rPr b="1" sz="1200">
                <a:solidFill>
                  <a:srgbClr val="4A5059"/>
                </a:solidFill>
                <a:latin typeface="Trebuchet MS"/>
              </a:rPr>
              <a:t>CampusSOS Expo 2026 | Slide 5 of 12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x="0" y="0"/>
          <a:chOff x="0" y="0"/>
          <a:chExt x="0" y="0"/>
        </a:xfrm>
      </p:grpSpPr>
      <p:sp>
        <p:nvSpPr>
          <p:cNvPr id="2" name="Badge"/>
          <p:cNvSpPr/>
          <p:nvPr/>
        </p:nvSpPr>
        <p:spPr>
          <a:xfrm>
            <a:off x="609600" y="457200"/>
            <a:ext x="5486400" y="411480"/>
          </a:xfrm>
          <a:prstGeom prst="roundRect">
            <a:avLst>
              <a:gd name="adj" fmla="val 30000"/>
            </a:avLst>
          </a:prstGeom>
          <a:solidFill>
            <a:srgbClr val="D2FF1F"/>
          </a:solidFill>
          <a:ln w="25400">
            <a:solidFill>
              <a:srgbClr val="0F1115"/>
            </a:solidFill>
          </a:ln>
        </p:spPr>
        <p:txBody>
          <a:bodyPr lIns="100000" tIns="50000" rIns="100000" bIns="50000" v="ctr"/>
          <a:lstStyle/>
          <a:p>
            <a:pPr algn="l"/>
            <a:r>
              <a:rPr b="1" sz="1300">
                <a:solidFill>
                  <a:srgbClr val="0F1115"/>
                </a:solidFill>
                <a:latin typeface="Trebuchet MS"/>
              </a:rPr>
              <a:t>PRIVACY &amp; ETHICS</a:t>
            </a:r>
          </a:p>
        </p:txBody>
      </p:sp>
      <p:sp>
        <p:nvSpPr>
          <p:cNvPr id="3" name="Title"/>
          <p:cNvSpPr/>
          <p:nvPr/>
        </p:nvSpPr>
        <p:spPr>
          <a:xfrm>
            <a:off x="609600" y="960000"/>
            <a:ext x="10972800" y="1000000"/>
          </a:xfrm>
          <a:prstGeom prst="rect">
            <a:avLst/>
          </a:prstGeom>
          <a:noFill/>
        </p:spPr>
        <p:txBody>
          <a:bodyPr lIns="0" tIns="0" rIns="0" bIns="0"/>
          <a:lstStyle/>
          <a:p>
            <a:r>
              <a:rPr b="1" sz="3800">
                <a:solidFill>
                  <a:srgbClr val="0F1115"/>
                </a:solidFill>
                <a:latin typeface="Trebuchet MS"/>
              </a:rPr>
              <a:t>Privacy by Design: Protecting the Vulnerable</a:t>
            </a:r>
          </a:p>
          <a:p>
            <a:r>
              <a:rPr sz="1800" i="1">
                <a:solidFill>
                  <a:srgbClr val="4A5059"/>
                </a:solidFill>
                <a:latin typeface="Arial"/>
              </a:rPr>
              <a:t>Architectural Guarantees Enforced at Database and API Boundaries</a:t>
            </a:r>
          </a:p>
        </p:txBody>
      </p:sp>
      <p:sp>
        <p:nvSpPr>
          <p:cNvPr id="4" name="QuadCard1"/>
          <p:cNvSpPr/>
          <p:nvPr/>
        </p:nvSpPr>
        <p:spPr>
          <a:xfrm>
            <a:off x="609600" y="2200000"/>
            <a:ext x="5300000" y="1800000"/>
          </a:xfrm>
          <a:prstGeom prst="rect">
            <a:avLst/>
          </a:prstGeom>
          <a:solidFill>
            <a:srgbClr val="FFFFFF"/>
          </a:solidFill>
          <a:ln w="25400">
            <a:solidFill>
              <a:srgbClr val="0F1115"/>
            </a:solidFill>
          </a:ln>
        </p:spPr>
        <p:txBody>
          <a:bodyPr lIns="200000" tIns="150000" rIns="200000" bIns="150000"/>
          <a:lstStyle/>
          <a:p>
            <a:pPr spcAft="80000"/>
            <a:r>
              <a:rPr b="1" sz="1600">
                <a:solidFill>
                  <a:srgbClr val="2554FF"/>
                </a:solidFill>
                <a:latin typeface="Trebuchet MS"/>
              </a:rPr>
              <a:t>1. Zero-Leakage Anonymous Schema</a:t>
            </a:r>
          </a:p>
          <a:p>
            <a:r>
              <a:rPr sz="1350">
                <a:solidFill>
                  <a:srgbClr val="0F1115"/>
                </a:solidFill>
                <a:latin typeface="Arial"/>
              </a:rPr>
              <a:t>is_anonymous = 1 forces reporter_user_id to NULL. API responses return reporter_name = 'Anonymous Student'.</a:t>
            </a:r>
          </a:p>
        </p:txBody>
      </p:sp>
      <p:sp>
        <p:nvSpPr>
          <p:cNvPr id="5" name="QuadCard2"/>
          <p:cNvSpPr/>
          <p:nvPr/>
        </p:nvSpPr>
        <p:spPr>
          <a:xfrm>
            <a:off x="6282400" y="2200000"/>
            <a:ext x="5300000" y="1800000"/>
          </a:xfrm>
          <a:prstGeom prst="rect">
            <a:avLst/>
          </a:prstGeom>
          <a:solidFill>
            <a:srgbClr val="FFFFFF"/>
          </a:solidFill>
          <a:ln w="25400">
            <a:solidFill>
              <a:srgbClr val="0F1115"/>
            </a:solidFill>
          </a:ln>
        </p:spPr>
        <p:txBody>
          <a:bodyPr lIns="200000" tIns="150000" rIns="200000" bIns="150000"/>
          <a:lstStyle/>
          <a:p>
            <a:pPr spcAft="80000"/>
            <a:r>
              <a:rPr b="1" sz="1600">
                <a:solidFill>
                  <a:srgbClr val="FF5A36"/>
                </a:solidFill>
                <a:latin typeface="Trebuchet MS"/>
              </a:rPr>
              <a:t>2. Confidential Case Isolation</a:t>
            </a:r>
          </a:p>
          <a:p>
            <a:r>
              <a:rPr sz="1350">
                <a:solidFill>
                  <a:srgbClr val="0F1115"/>
                </a:solidFill>
                <a:latin typeface="Arial"/>
              </a:rPr>
              <a:t>Sensitive categories (anti_ragging, sexual_harassment) are cryptographically isolated and restricted strictly to Proctor/ICC role.</a:t>
            </a:r>
          </a:p>
        </p:txBody>
      </p:sp>
      <p:sp>
        <p:nvSpPr>
          <p:cNvPr id="6" name="QuadCard3"/>
          <p:cNvSpPr/>
          <p:nvPr/>
        </p:nvSpPr>
        <p:spPr>
          <a:xfrm>
            <a:off x="609600" y="4200000"/>
            <a:ext x="5300000" y="1800000"/>
          </a:xfrm>
          <a:prstGeom prst="rect">
            <a:avLst/>
          </a:prstGeom>
          <a:solidFill>
            <a:srgbClr val="FFFFFF"/>
          </a:solidFill>
          <a:ln w="25400">
            <a:solidFill>
              <a:srgbClr val="0F1115"/>
            </a:solidFill>
          </a:ln>
        </p:spPr>
        <p:txBody>
          <a:bodyPr lIns="200000" tIns="150000" rIns="200000" bIns="150000"/>
          <a:lstStyle/>
          <a:p>
            <a:pPr spcAft="80000"/>
            <a:r>
              <a:rPr b="1" sz="1600">
                <a:solidFill>
                  <a:srgbClr val="8655FE"/>
                </a:solidFill>
                <a:latin typeface="Trebuchet MS"/>
              </a:rPr>
              <a:t>3. AI Privacy Guard</a:t>
            </a:r>
          </a:p>
          <a:p>
            <a:r>
              <a:rPr sz="1350">
                <a:solidFill>
                  <a:srgbClr val="0F1115"/>
                </a:solidFill>
                <a:latin typeface="Arial"/>
              </a:rPr>
              <a:t>Sensitive narratives automatically bypass external Gemini classification to eliminate any risk of student data exposure.</a:t>
            </a:r>
          </a:p>
        </p:txBody>
      </p:sp>
      <p:sp>
        <p:nvSpPr>
          <p:cNvPr id="7" name="QuadCard4"/>
          <p:cNvSpPr/>
          <p:nvPr/>
        </p:nvSpPr>
        <p:spPr>
          <a:xfrm>
            <a:off x="6282400" y="4200000"/>
            <a:ext x="5300000" y="1800000"/>
          </a:xfrm>
          <a:prstGeom prst="rect">
            <a:avLst/>
          </a:prstGeom>
          <a:solidFill>
            <a:srgbClr val="FFFFFF"/>
          </a:solidFill>
          <a:ln w="25400">
            <a:solidFill>
              <a:srgbClr val="0F1115"/>
            </a:solidFill>
          </a:ln>
        </p:spPr>
        <p:txBody>
          <a:bodyPr lIns="200000" tIns="150000" rIns="200000" bIns="150000"/>
          <a:lstStyle/>
          <a:p>
            <a:pPr spcAft="80000"/>
            <a:r>
              <a:rPr b="1" sz="1600">
                <a:solidFill>
                  <a:srgbClr val="00B894"/>
                </a:solidFill>
                <a:latin typeface="Trebuchet MS"/>
              </a:rPr>
              <a:t>4. Immutable Audit Trail</a:t>
            </a:r>
          </a:p>
          <a:p>
            <a:r>
              <a:rPr sz="1350">
                <a:solidFill>
                  <a:srgbClr val="0F1115"/>
                </a:solidFill>
                <a:latin typeface="Arial"/>
              </a:rPr>
              <a:t>All privacy-sensitive status changes, responder actions, and triage decisions are permanently logged with actor ID and timestamp.</a:t>
            </a:r>
          </a:p>
        </p:txBody>
      </p:sp>
      <p:sp>
        <p:nvSpPr>
          <p:cNvPr id="8" name="Footer"/>
          <p:cNvSpPr/>
          <p:nvPr/>
        </p:nvSpPr>
        <p:spPr>
          <a:xfrm>
            <a:off x="609600" y="6250000"/>
            <a:ext x="10972800" y="300000"/>
          </a:xfrm>
          <a:prstGeom prst="rect">
            <a:avLst/>
          </a:prstGeom>
          <a:noFill/>
        </p:spPr>
        <p:txBody>
          <a:bodyPr lIns="0" tIns="0" rIns="0" bIns="0"/>
          <a:lstStyle/>
          <a:p>
            <a:pPr algn="r"/>
            <a:r>
              <a:rPr b="1" sz="1200">
                <a:solidFill>
                  <a:srgbClr val="4A5059"/>
                </a:solidFill>
                <a:latin typeface="Trebuchet MS"/>
              </a:rPr>
              <a:t>CampusSOS Expo 2026 | Slide 6 of 12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x="0" y="0"/>
          <a:chOff x="0" y="0"/>
          <a:chExt x="0" y="0"/>
        </a:xfrm>
      </p:grpSpPr>
      <p:sp>
        <p:nvSpPr>
          <p:cNvPr id="2" name="Badge"/>
          <p:cNvSpPr/>
          <p:nvPr/>
        </p:nvSpPr>
        <p:spPr>
          <a:xfrm>
            <a:off x="609600" y="457200"/>
            <a:ext x="5486400" y="411480"/>
          </a:xfrm>
          <a:prstGeom prst="roundRect">
            <a:avLst>
              <a:gd name="adj" fmla="val 30000"/>
            </a:avLst>
          </a:prstGeom>
          <a:solidFill>
            <a:srgbClr val="D2FF1F"/>
          </a:solidFill>
          <a:ln w="25400">
            <a:solidFill>
              <a:srgbClr val="0F1115"/>
            </a:solidFill>
          </a:ln>
        </p:spPr>
        <p:txBody>
          <a:bodyPr lIns="100000" tIns="50000" rIns="100000" bIns="50000" v="ctr"/>
          <a:lstStyle/>
          <a:p>
            <a:pPr algn="l"/>
            <a:r>
              <a:rPr b="1" sz="1300">
                <a:solidFill>
                  <a:srgbClr val="0F1115"/>
                </a:solidFill>
                <a:latin typeface="Trebuchet MS"/>
              </a:rPr>
              <a:t>ALGORITHMIC TRIAGE</a:t>
            </a:r>
          </a:p>
        </p:txBody>
      </p:sp>
      <p:sp>
        <p:nvSpPr>
          <p:cNvPr id="3" name="Title"/>
          <p:cNvSpPr/>
          <p:nvPr/>
        </p:nvSpPr>
        <p:spPr>
          <a:xfrm>
            <a:off x="609600" y="960000"/>
            <a:ext x="10972800" y="1000000"/>
          </a:xfrm>
          <a:prstGeom prst="rect">
            <a:avLst/>
          </a:prstGeom>
          <a:noFill/>
        </p:spPr>
        <p:txBody>
          <a:bodyPr lIns="0" tIns="0" rIns="0" bIns="0"/>
          <a:lstStyle/>
          <a:p>
            <a:r>
              <a:rPr b="1" sz="3800">
                <a:solidFill>
                  <a:srgbClr val="0F1115"/>
                </a:solidFill>
                <a:latin typeface="Trebuchet MS"/>
              </a:rPr>
              <a:t>Deterministic Incident Matching</a:t>
            </a:r>
          </a:p>
          <a:p>
            <a:r>
              <a:rPr sz="1800" i="1">
                <a:solidFill>
                  <a:srgbClr val="4A5059"/>
                </a:solidFill>
                <a:latin typeface="Arial"/>
              </a:rPr>
              <a:t>Multi-Factor Scoring with Human-in-the-Loop Safeguard</a:t>
            </a:r>
          </a:p>
        </p:txBody>
      </p:sp>
      <p:sp>
        <p:nvSpPr>
          <p:cNvPr id="4" name="QuadCard1"/>
          <p:cNvSpPr/>
          <p:nvPr/>
        </p:nvSpPr>
        <p:spPr>
          <a:xfrm>
            <a:off x="609600" y="2200000"/>
            <a:ext x="5300000" y="1800000"/>
          </a:xfrm>
          <a:prstGeom prst="rect">
            <a:avLst/>
          </a:prstGeom>
          <a:solidFill>
            <a:srgbClr val="FFFFFF"/>
          </a:solidFill>
          <a:ln w="25400">
            <a:solidFill>
              <a:srgbClr val="0F1115"/>
            </a:solidFill>
          </a:ln>
        </p:spPr>
        <p:txBody>
          <a:bodyPr lIns="200000" tIns="150000" rIns="200000" bIns="150000"/>
          <a:lstStyle/>
          <a:p>
            <a:pPr spcAft="80000"/>
            <a:r>
              <a:rPr b="1" sz="1600">
                <a:solidFill>
                  <a:srgbClr val="2554FF"/>
                </a:solidFill>
                <a:latin typeface="Trebuchet MS"/>
              </a:rPr>
              <a:t>1. Transparent 4-Factor Formula</a:t>
            </a:r>
          </a:p>
          <a:p>
            <a:r>
              <a:rPr sz="1350">
                <a:solidFill>
                  <a:srgbClr val="0F1115"/>
                </a:solidFill>
                <a:latin typeface="Arial"/>
              </a:rPr>
              <a:t>Score = 0.25*(Category) + 0.35*(Location/Haversine) + 0.20*(Time Decay) + 0.20*(Keyword Overlap).</a:t>
            </a:r>
          </a:p>
        </p:txBody>
      </p:sp>
      <p:sp>
        <p:nvSpPr>
          <p:cNvPr id="5" name="QuadCard2"/>
          <p:cNvSpPr/>
          <p:nvPr/>
        </p:nvSpPr>
        <p:spPr>
          <a:xfrm>
            <a:off x="6282400" y="2200000"/>
            <a:ext x="5300000" y="1800000"/>
          </a:xfrm>
          <a:prstGeom prst="rect">
            <a:avLst/>
          </a:prstGeom>
          <a:solidFill>
            <a:srgbClr val="FFFFFF"/>
          </a:solidFill>
          <a:ln w="25400">
            <a:solidFill>
              <a:srgbClr val="0F1115"/>
            </a:solidFill>
          </a:ln>
        </p:spPr>
        <p:txBody>
          <a:bodyPr lIns="200000" tIns="150000" rIns="200000" bIns="150000"/>
          <a:lstStyle/>
          <a:p>
            <a:pPr spcAft="80000"/>
            <a:r>
              <a:rPr b="1" sz="1600">
                <a:solidFill>
                  <a:srgbClr val="FF5A36"/>
                </a:solidFill>
                <a:latin typeface="Trebuchet MS"/>
              </a:rPr>
              <a:t>2. Deterministic Execution</a:t>
            </a:r>
          </a:p>
          <a:p>
            <a:r>
              <a:rPr sz="1350">
                <a:solidFill>
                  <a:srgbClr val="0F1115"/>
                </a:solidFill>
                <a:latin typeface="Arial"/>
              </a:rPr>
              <a:t>Heuristic calculations execute in sub-millisecond time directly in PHP/MySQL without external dependencies.</a:t>
            </a:r>
          </a:p>
        </p:txBody>
      </p:sp>
      <p:sp>
        <p:nvSpPr>
          <p:cNvPr id="6" name="QuadCard3"/>
          <p:cNvSpPr/>
          <p:nvPr/>
        </p:nvSpPr>
        <p:spPr>
          <a:xfrm>
            <a:off x="609600" y="4200000"/>
            <a:ext x="5300000" y="1800000"/>
          </a:xfrm>
          <a:prstGeom prst="rect">
            <a:avLst/>
          </a:prstGeom>
          <a:solidFill>
            <a:srgbClr val="FFFFFF"/>
          </a:solidFill>
          <a:ln w="25400">
            <a:solidFill>
              <a:srgbClr val="0F1115"/>
            </a:solidFill>
          </a:ln>
        </p:spPr>
        <p:txBody>
          <a:bodyPr lIns="200000" tIns="150000" rIns="200000" bIns="150000"/>
          <a:lstStyle/>
          <a:p>
            <a:pPr spcAft="80000"/>
            <a:r>
              <a:rPr b="1" sz="1600">
                <a:solidFill>
                  <a:srgbClr val="8655FE"/>
                </a:solidFill>
                <a:latin typeface="Trebuchet MS"/>
              </a:rPr>
              <a:t>3. Human-in-the-Loop Safeguard</a:t>
            </a:r>
          </a:p>
          <a:p>
            <a:r>
              <a:rPr sz="1350">
                <a:solidFill>
                  <a:srgbClr val="0F1115"/>
                </a:solidFill>
                <a:latin typeface="Arial"/>
              </a:rPr>
              <a:t>Scores &gt;= 0.60 flagged as pending_review. System NEVER silently merges or deletes incidents. Admin must confirm or dismiss.</a:t>
            </a:r>
          </a:p>
        </p:txBody>
      </p:sp>
      <p:sp>
        <p:nvSpPr>
          <p:cNvPr id="7" name="QuadCard4"/>
          <p:cNvSpPr/>
          <p:nvPr/>
        </p:nvSpPr>
        <p:spPr>
          <a:xfrm>
            <a:off x="6282400" y="4200000"/>
            <a:ext x="5300000" y="1800000"/>
          </a:xfrm>
          <a:prstGeom prst="rect">
            <a:avLst/>
          </a:prstGeom>
          <a:solidFill>
            <a:srgbClr val="FFFFFF"/>
          </a:solidFill>
          <a:ln w="25400">
            <a:solidFill>
              <a:srgbClr val="0F1115"/>
            </a:solidFill>
          </a:ln>
        </p:spPr>
        <p:txBody>
          <a:bodyPr lIns="200000" tIns="150000" rIns="200000" bIns="150000"/>
          <a:lstStyle/>
          <a:p>
            <a:pPr spcAft="80000"/>
            <a:r>
              <a:rPr b="1" sz="1600">
                <a:solidFill>
                  <a:srgbClr val="00B894"/>
                </a:solidFill>
                <a:latin typeface="Trebuchet MS"/>
              </a:rPr>
              <a:t>4. Check Constraint Integrity</a:t>
            </a:r>
          </a:p>
          <a:p>
            <a:r>
              <a:rPr sz="1350">
                <a:solidFill>
                  <a:srgbClr val="0F1115"/>
                </a:solidFill>
                <a:latin typeface="Arial"/>
              </a:rPr>
              <a:t>MySQL constraint incident_a_id &lt; incident_b_id guarantees no reversed duplicate pairs or self-matching loops.</a:t>
            </a:r>
          </a:p>
        </p:txBody>
      </p:sp>
      <p:sp>
        <p:nvSpPr>
          <p:cNvPr id="8" name="Footer"/>
          <p:cNvSpPr/>
          <p:nvPr/>
        </p:nvSpPr>
        <p:spPr>
          <a:xfrm>
            <a:off x="609600" y="6250000"/>
            <a:ext x="10972800" y="300000"/>
          </a:xfrm>
          <a:prstGeom prst="rect">
            <a:avLst/>
          </a:prstGeom>
          <a:noFill/>
        </p:spPr>
        <p:txBody>
          <a:bodyPr lIns="0" tIns="0" rIns="0" bIns="0"/>
          <a:lstStyle/>
          <a:p>
            <a:pPr algn="r"/>
            <a:r>
              <a:rPr b="1" sz="1200">
                <a:solidFill>
                  <a:srgbClr val="4A5059"/>
                </a:solidFill>
                <a:latin typeface="Trebuchet MS"/>
              </a:rPr>
              <a:t>CampusSOS Expo 2026 | Slide 7 of 12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x="0" y="0"/>
          <a:chOff x="0" y="0"/>
          <a:chExt x="0" y="0"/>
        </a:xfrm>
      </p:grpSpPr>
      <p:sp>
        <p:nvSpPr>
          <p:cNvPr id="2" name="Badge"/>
          <p:cNvSpPr/>
          <p:nvPr/>
        </p:nvSpPr>
        <p:spPr>
          <a:xfrm>
            <a:off x="609600" y="457200"/>
            <a:ext x="5486400" y="411480"/>
          </a:xfrm>
          <a:prstGeom prst="roundRect">
            <a:avLst>
              <a:gd name="adj" fmla="val 30000"/>
            </a:avLst>
          </a:prstGeom>
          <a:solidFill>
            <a:srgbClr val="D2FF1F"/>
          </a:solidFill>
          <a:ln w="25400">
            <a:solidFill>
              <a:srgbClr val="0F1115"/>
            </a:solidFill>
          </a:ln>
        </p:spPr>
        <p:txBody>
          <a:bodyPr lIns="100000" tIns="50000" rIns="100000" bIns="50000" v="ctr"/>
          <a:lstStyle/>
          <a:p>
            <a:pPr algn="l"/>
            <a:r>
              <a:rPr b="1" sz="1300">
                <a:solidFill>
                  <a:srgbClr val="0F1115"/>
                </a:solidFill>
                <a:latin typeface="Trebuchet MS"/>
              </a:rPr>
              <a:t>SYSTEM ARCHITECTURE</a:t>
            </a:r>
          </a:p>
        </p:txBody>
      </p:sp>
      <p:sp>
        <p:nvSpPr>
          <p:cNvPr id="3" name="Title"/>
          <p:cNvSpPr/>
          <p:nvPr/>
        </p:nvSpPr>
        <p:spPr>
          <a:xfrm>
            <a:off x="609600" y="960000"/>
            <a:ext x="10972800" y="1000000"/>
          </a:xfrm>
          <a:prstGeom prst="rect">
            <a:avLst/>
          </a:prstGeom>
          <a:noFill/>
        </p:spPr>
        <p:txBody>
          <a:bodyPr lIns="0" tIns="0" rIns="0" bIns="0"/>
          <a:lstStyle/>
          <a:p>
            <a:r>
              <a:rPr b="1" sz="3800">
                <a:solidFill>
                  <a:srgbClr val="0F1115"/>
                </a:solidFill>
                <a:latin typeface="Trebuchet MS"/>
              </a:rPr>
              <a:t>Enterprise Full-Stack Tiering</a:t>
            </a:r>
          </a:p>
          <a:p>
            <a:r>
              <a:rPr sz="1800" i="1">
                <a:solidFill>
                  <a:srgbClr val="4A5059"/>
                </a:solidFill>
                <a:latin typeface="Arial"/>
              </a:rPr>
              <a:t>Modular, Type-Safe, and Defense-in-Depth Design</a:t>
            </a:r>
          </a:p>
        </p:txBody>
      </p:sp>
      <p:sp>
        <p:nvSpPr>
          <p:cNvPr id="4" name="QuadCard1"/>
          <p:cNvSpPr/>
          <p:nvPr/>
        </p:nvSpPr>
        <p:spPr>
          <a:xfrm>
            <a:off x="609600" y="2200000"/>
            <a:ext x="5300000" y="1800000"/>
          </a:xfrm>
          <a:prstGeom prst="rect">
            <a:avLst/>
          </a:prstGeom>
          <a:solidFill>
            <a:srgbClr val="FFFFFF"/>
          </a:solidFill>
          <a:ln w="25400">
            <a:solidFill>
              <a:srgbClr val="0F1115"/>
            </a:solidFill>
          </a:ln>
        </p:spPr>
        <p:txBody>
          <a:bodyPr lIns="200000" tIns="150000" rIns="200000" bIns="150000"/>
          <a:lstStyle/>
          <a:p>
            <a:pPr spcAft="80000"/>
            <a:r>
              <a:rPr b="1" sz="1600">
                <a:solidFill>
                  <a:srgbClr val="2554FF"/>
                </a:solidFill>
                <a:latin typeface="Trebuchet MS"/>
              </a:rPr>
              <a:t>1. Presentation Layer</a:t>
            </a:r>
          </a:p>
          <a:p>
            <a:r>
              <a:rPr sz="1350">
                <a:solidFill>
                  <a:srgbClr val="0F1115"/>
                </a:solidFill>
                <a:latin typeface="Arial"/>
              </a:rPr>
              <a:t>React 18 + TypeScript + Vite. Neo-Brutalist design system. Lucide icons. Responsive mobile-friendly views.</a:t>
            </a:r>
          </a:p>
        </p:txBody>
      </p:sp>
      <p:sp>
        <p:nvSpPr>
          <p:cNvPr id="5" name="QuadCard2"/>
          <p:cNvSpPr/>
          <p:nvPr/>
        </p:nvSpPr>
        <p:spPr>
          <a:xfrm>
            <a:off x="6282400" y="2200000"/>
            <a:ext x="5300000" y="1800000"/>
          </a:xfrm>
          <a:prstGeom prst="rect">
            <a:avLst/>
          </a:prstGeom>
          <a:solidFill>
            <a:srgbClr val="FFFFFF"/>
          </a:solidFill>
          <a:ln w="25400">
            <a:solidFill>
              <a:srgbClr val="0F1115"/>
            </a:solidFill>
          </a:ln>
        </p:spPr>
        <p:txBody>
          <a:bodyPr lIns="200000" tIns="150000" rIns="200000" bIns="150000"/>
          <a:lstStyle/>
          <a:p>
            <a:pPr spcAft="80000"/>
            <a:r>
              <a:rPr b="1" sz="1600">
                <a:solidFill>
                  <a:srgbClr val="FF5A36"/>
                </a:solidFill>
                <a:latin typeface="Trebuchet MS"/>
              </a:rPr>
              <a:t>2. Application REST API</a:t>
            </a:r>
          </a:p>
          <a:p>
            <a:r>
              <a:rPr sz="1350">
                <a:solidFill>
                  <a:srgbClr val="0F1115"/>
                </a:solidFill>
                <a:latin typeface="Arial"/>
              </a:rPr>
              <a:t>PHP 8.2+ modular architecture. Front controller, domain routers, controllers, models, and strict input validators.</a:t>
            </a:r>
          </a:p>
        </p:txBody>
      </p:sp>
      <p:sp>
        <p:nvSpPr>
          <p:cNvPr id="6" name="QuadCard3"/>
          <p:cNvSpPr/>
          <p:nvPr/>
        </p:nvSpPr>
        <p:spPr>
          <a:xfrm>
            <a:off x="609600" y="4200000"/>
            <a:ext x="5300000" y="1800000"/>
          </a:xfrm>
          <a:prstGeom prst="rect">
            <a:avLst/>
          </a:prstGeom>
          <a:solidFill>
            <a:srgbClr val="FFFFFF"/>
          </a:solidFill>
          <a:ln w="25400">
            <a:solidFill>
              <a:srgbClr val="0F1115"/>
            </a:solidFill>
          </a:ln>
        </p:spPr>
        <p:txBody>
          <a:bodyPr lIns="200000" tIns="150000" rIns="200000" bIns="150000"/>
          <a:lstStyle/>
          <a:p>
            <a:pPr spcAft="80000"/>
            <a:r>
              <a:rPr b="1" sz="1600">
                <a:solidFill>
                  <a:srgbClr val="8655FE"/>
                </a:solidFill>
                <a:latin typeface="Trebuchet MS"/>
              </a:rPr>
              <a:t>3. Security Middleware</a:t>
            </a:r>
          </a:p>
          <a:p>
            <a:r>
              <a:rPr sz="1350">
                <a:solidFill>
                  <a:srgbClr val="0F1115"/>
                </a:solidFill>
                <a:latin typeface="Arial"/>
              </a:rPr>
              <a:t>HttpOnly SameSite=Lax sessions, 64-char cryptographically secure CSRF tokens, strict CORS allowlist, PDO prepared statements.</a:t>
            </a:r>
          </a:p>
        </p:txBody>
      </p:sp>
      <p:sp>
        <p:nvSpPr>
          <p:cNvPr id="7" name="QuadCard4"/>
          <p:cNvSpPr/>
          <p:nvPr/>
        </p:nvSpPr>
        <p:spPr>
          <a:xfrm>
            <a:off x="6282400" y="4200000"/>
            <a:ext x="5300000" y="1800000"/>
          </a:xfrm>
          <a:prstGeom prst="rect">
            <a:avLst/>
          </a:prstGeom>
          <a:solidFill>
            <a:srgbClr val="FFFFFF"/>
          </a:solidFill>
          <a:ln w="25400">
            <a:solidFill>
              <a:srgbClr val="0F1115"/>
            </a:solidFill>
          </a:ln>
        </p:spPr>
        <p:txBody>
          <a:bodyPr lIns="200000" tIns="150000" rIns="200000" bIns="150000"/>
          <a:lstStyle/>
          <a:p>
            <a:pPr spcAft="80000"/>
            <a:r>
              <a:rPr b="1" sz="1600">
                <a:solidFill>
                  <a:srgbClr val="00B894"/>
                </a:solidFill>
                <a:latin typeface="Trebuchet MS"/>
              </a:rPr>
              <a:t>4. Database Engine</a:t>
            </a:r>
          </a:p>
          <a:p>
            <a:r>
              <a:rPr sz="1350">
                <a:solidFill>
                  <a:srgbClr val="0F1115"/>
                </a:solidFill>
                <a:latin typeface="Arial"/>
              </a:rPr>
              <a:t>MySQL 8.0+ / MariaDB 10.4+ InnoDB. 13 relational tables with foreign keys, compound indexes, and check constraints.</a:t>
            </a:r>
          </a:p>
        </p:txBody>
      </p:sp>
      <p:sp>
        <p:nvSpPr>
          <p:cNvPr id="8" name="Footer"/>
          <p:cNvSpPr/>
          <p:nvPr/>
        </p:nvSpPr>
        <p:spPr>
          <a:xfrm>
            <a:off x="609600" y="6250000"/>
            <a:ext x="10972800" y="300000"/>
          </a:xfrm>
          <a:prstGeom prst="rect">
            <a:avLst/>
          </a:prstGeom>
          <a:noFill/>
        </p:spPr>
        <p:txBody>
          <a:bodyPr lIns="0" tIns="0" rIns="0" bIns="0"/>
          <a:lstStyle/>
          <a:p>
            <a:pPr algn="r"/>
            <a:r>
              <a:rPr b="1" sz="1200">
                <a:solidFill>
                  <a:srgbClr val="4A5059"/>
                </a:solidFill>
                <a:latin typeface="Trebuchet MS"/>
              </a:rPr>
              <a:t>CampusSOS Expo 2026 | Slide 8 of 12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x="0" y="0"/>
          <a:chOff x="0" y="0"/>
          <a:chExt x="0" y="0"/>
        </a:xfrm>
      </p:grpSpPr>
      <p:sp>
        <p:nvSpPr>
          <p:cNvPr id="2" name="Badge"/>
          <p:cNvSpPr/>
          <p:nvPr/>
        </p:nvSpPr>
        <p:spPr>
          <a:xfrm>
            <a:off x="609600" y="457200"/>
            <a:ext x="5486400" y="411480"/>
          </a:xfrm>
          <a:prstGeom prst="roundRect">
            <a:avLst>
              <a:gd name="adj" fmla="val 30000"/>
            </a:avLst>
          </a:prstGeom>
          <a:solidFill>
            <a:srgbClr val="D2FF1F"/>
          </a:solidFill>
          <a:ln w="25400">
            <a:solidFill>
              <a:srgbClr val="0F1115"/>
            </a:solidFill>
          </a:ln>
        </p:spPr>
        <p:txBody>
          <a:bodyPr lIns="100000" tIns="50000" rIns="100000" bIns="50000" v="ctr"/>
          <a:lstStyle/>
          <a:p>
            <a:pPr algn="l"/>
            <a:r>
              <a:rPr b="1" sz="1300">
                <a:solidFill>
                  <a:srgbClr val="0F1115"/>
                </a:solidFill>
                <a:latin typeface="Trebuchet MS"/>
              </a:rPr>
              <a:t>SECURITY &amp; RESILIENCE</a:t>
            </a:r>
          </a:p>
        </p:txBody>
      </p:sp>
      <p:sp>
        <p:nvSpPr>
          <p:cNvPr id="3" name="Title"/>
          <p:cNvSpPr/>
          <p:nvPr/>
        </p:nvSpPr>
        <p:spPr>
          <a:xfrm>
            <a:off x="609600" y="960000"/>
            <a:ext x="10972800" y="1000000"/>
          </a:xfrm>
          <a:prstGeom prst="rect">
            <a:avLst/>
          </a:prstGeom>
          <a:noFill/>
        </p:spPr>
        <p:txBody>
          <a:bodyPr lIns="0" tIns="0" rIns="0" bIns="0"/>
          <a:lstStyle/>
          <a:p>
            <a:r>
              <a:rPr b="1" sz="3800">
                <a:solidFill>
                  <a:srgbClr val="0F1115"/>
                </a:solidFill>
                <a:latin typeface="Trebuchet MS"/>
              </a:rPr>
              <a:t>Safety-First Application Security</a:t>
            </a:r>
          </a:p>
          <a:p>
            <a:r>
              <a:rPr sz="1800" i="1">
                <a:solidFill>
                  <a:srgbClr val="4A5059"/>
                </a:solidFill>
                <a:latin typeface="Arial"/>
              </a:rPr>
              <a:t>Proactive Defense Against Common Web Vulnerabilities</a:t>
            </a:r>
          </a:p>
        </p:txBody>
      </p:sp>
      <p:sp>
        <p:nvSpPr>
          <p:cNvPr id="4" name="QuadCard1"/>
          <p:cNvSpPr/>
          <p:nvPr/>
        </p:nvSpPr>
        <p:spPr>
          <a:xfrm>
            <a:off x="609600" y="2200000"/>
            <a:ext x="5300000" y="1800000"/>
          </a:xfrm>
          <a:prstGeom prst="rect">
            <a:avLst/>
          </a:prstGeom>
          <a:solidFill>
            <a:srgbClr val="FFFFFF"/>
          </a:solidFill>
          <a:ln w="25400">
            <a:solidFill>
              <a:srgbClr val="0F1115"/>
            </a:solidFill>
          </a:ln>
        </p:spPr>
        <p:txBody>
          <a:bodyPr lIns="200000" tIns="150000" rIns="200000" bIns="150000"/>
          <a:lstStyle/>
          <a:p>
            <a:pPr spcAft="80000"/>
            <a:r>
              <a:rPr b="1" sz="1600">
                <a:solidFill>
                  <a:srgbClr val="2554FF"/>
                </a:solidFill>
                <a:latin typeface="Trebuchet MS"/>
              </a:rPr>
              <a:t>1. Role Escalation Prevention</a:t>
            </a:r>
          </a:p>
          <a:p>
            <a:r>
              <a:rPr sz="1350">
                <a:solidFill>
                  <a:srgbClr val="0F1115"/>
                </a:solidFill>
                <a:latin typeface="Arial"/>
              </a:rPr>
              <a:t>Public registration strictly forces role = 'student'. Client injection of 'admin' or 'responder' is unconditionally ignored.</a:t>
            </a:r>
          </a:p>
        </p:txBody>
      </p:sp>
      <p:sp>
        <p:nvSpPr>
          <p:cNvPr id="5" name="QuadCard2"/>
          <p:cNvSpPr/>
          <p:nvPr/>
        </p:nvSpPr>
        <p:spPr>
          <a:xfrm>
            <a:off x="6282400" y="2200000"/>
            <a:ext x="5300000" y="1800000"/>
          </a:xfrm>
          <a:prstGeom prst="rect">
            <a:avLst/>
          </a:prstGeom>
          <a:solidFill>
            <a:srgbClr val="FFFFFF"/>
          </a:solidFill>
          <a:ln w="25400">
            <a:solidFill>
              <a:srgbClr val="0F1115"/>
            </a:solidFill>
          </a:ln>
        </p:spPr>
        <p:txBody>
          <a:bodyPr lIns="200000" tIns="150000" rIns="200000" bIns="150000"/>
          <a:lstStyle/>
          <a:p>
            <a:pPr spcAft="80000"/>
            <a:r>
              <a:rPr b="1" sz="1600">
                <a:solidFill>
                  <a:srgbClr val="FF5A36"/>
                </a:solidFill>
                <a:latin typeface="Trebuchet MS"/>
              </a:rPr>
              <a:t>2. Session Fixation Mitigation</a:t>
            </a:r>
          </a:p>
          <a:p>
            <a:r>
              <a:rPr sz="1350">
                <a:solidFill>
                  <a:srgbClr val="0F1115"/>
                </a:solidFill>
                <a:latin typeface="Arial"/>
              </a:rPr>
              <a:t>Session IDs are regenerated via session_regenerate_id(true) upon authentication. HttpOnly cookies prevent XSS theft.</a:t>
            </a:r>
          </a:p>
        </p:txBody>
      </p:sp>
      <p:sp>
        <p:nvSpPr>
          <p:cNvPr id="6" name="QuadCard3"/>
          <p:cNvSpPr/>
          <p:nvPr/>
        </p:nvSpPr>
        <p:spPr>
          <a:xfrm>
            <a:off x="609600" y="4200000"/>
            <a:ext x="5300000" y="1800000"/>
          </a:xfrm>
          <a:prstGeom prst="rect">
            <a:avLst/>
          </a:prstGeom>
          <a:solidFill>
            <a:srgbClr val="FFFFFF"/>
          </a:solidFill>
          <a:ln w="25400">
            <a:solidFill>
              <a:srgbClr val="0F1115"/>
            </a:solidFill>
          </a:ln>
        </p:spPr>
        <p:txBody>
          <a:bodyPr lIns="200000" tIns="150000" rIns="200000" bIns="150000"/>
          <a:lstStyle/>
          <a:p>
            <a:pPr spcAft="80000"/>
            <a:r>
              <a:rPr b="1" sz="1600">
                <a:solidFill>
                  <a:srgbClr val="8655FE"/>
                </a:solidFill>
                <a:latin typeface="Trebuchet MS"/>
              </a:rPr>
              <a:t>3. 3-Second AI Fallback</a:t>
            </a:r>
          </a:p>
          <a:p>
            <a:r>
              <a:rPr sz="1350">
                <a:solidFill>
                  <a:srgbClr val="0F1115"/>
                </a:solidFill>
                <a:latin typeface="Arial"/>
              </a:rPr>
              <a:t>If Gemini API key is missing or service exceeds 3.0s, local keyword heuristic engine takes over in under 2ms without blocking submission.</a:t>
            </a:r>
          </a:p>
        </p:txBody>
      </p:sp>
      <p:sp>
        <p:nvSpPr>
          <p:cNvPr id="7" name="QuadCard4"/>
          <p:cNvSpPr/>
          <p:nvPr/>
        </p:nvSpPr>
        <p:spPr>
          <a:xfrm>
            <a:off x="6282400" y="4200000"/>
            <a:ext x="5300000" y="1800000"/>
          </a:xfrm>
          <a:prstGeom prst="rect">
            <a:avLst/>
          </a:prstGeom>
          <a:solidFill>
            <a:srgbClr val="FFFFFF"/>
          </a:solidFill>
          <a:ln w="25400">
            <a:solidFill>
              <a:srgbClr val="0F1115"/>
            </a:solidFill>
          </a:ln>
        </p:spPr>
        <p:txBody>
          <a:bodyPr lIns="200000" tIns="150000" rIns="200000" bIns="150000"/>
          <a:lstStyle/>
          <a:p>
            <a:pPr spcAft="80000"/>
            <a:r>
              <a:rPr b="1" sz="1600">
                <a:solidFill>
                  <a:srgbClr val="00B894"/>
                </a:solidFill>
                <a:latin typeface="Trebuchet MS"/>
              </a:rPr>
              <a:t>4. Exception Sanitization</a:t>
            </a:r>
          </a:p>
          <a:p>
            <a:r>
              <a:rPr sz="1350">
                <a:solidFill>
                  <a:srgbClr val="0F1115"/>
                </a:solidFill>
                <a:latin typeface="Arial"/>
              </a:rPr>
              <a:t>Global exception handler catches server faults and returns sanitized JSON error payloads, preventing database credential exposure.</a:t>
            </a:r>
          </a:p>
        </p:txBody>
      </p:sp>
      <p:sp>
        <p:nvSpPr>
          <p:cNvPr id="8" name="Footer"/>
          <p:cNvSpPr/>
          <p:nvPr/>
        </p:nvSpPr>
        <p:spPr>
          <a:xfrm>
            <a:off x="609600" y="6250000"/>
            <a:ext x="10972800" y="300000"/>
          </a:xfrm>
          <a:prstGeom prst="rect">
            <a:avLst/>
          </a:prstGeom>
          <a:noFill/>
        </p:spPr>
        <p:txBody>
          <a:bodyPr lIns="0" tIns="0" rIns="0" bIns="0"/>
          <a:lstStyle/>
          <a:p>
            <a:pPr algn="r"/>
            <a:r>
              <a:rPr b="1" sz="1200">
                <a:solidFill>
                  <a:srgbClr val="4A5059"/>
                </a:solidFill>
                <a:latin typeface="Trebuchet MS"/>
              </a:rPr>
              <a:t>CampusSOS Expo 2026 | Slide 9 of 12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x="0" y="0"/>
          <a:chOff x="0" y="0"/>
          <a:chExt x="0" y="0"/>
        </a:xfrm>
      </p:grpSpPr>
      <p:sp>
        <p:nvSpPr>
          <p:cNvPr id="2" name="Badge"/>
          <p:cNvSpPr/>
          <p:nvPr/>
        </p:nvSpPr>
        <p:spPr>
          <a:xfrm>
            <a:off x="609600" y="457200"/>
            <a:ext x="5486400" y="411480"/>
          </a:xfrm>
          <a:prstGeom prst="roundRect">
            <a:avLst>
              <a:gd name="adj" fmla="val 30000"/>
            </a:avLst>
          </a:prstGeom>
          <a:solidFill>
            <a:srgbClr val="D2FF1F"/>
          </a:solidFill>
          <a:ln w="25400">
            <a:solidFill>
              <a:srgbClr val="0F1115"/>
            </a:solidFill>
          </a:ln>
        </p:spPr>
        <p:txBody>
          <a:bodyPr lIns="100000" tIns="50000" rIns="100000" bIns="50000" v="ctr"/>
          <a:lstStyle/>
          <a:p>
            <a:pPr algn="l"/>
            <a:r>
              <a:rPr b="1" sz="1300">
                <a:solidFill>
                  <a:srgbClr val="0F1115"/>
                </a:solidFill>
                <a:latin typeface="Trebuchet MS"/>
              </a:rPr>
              <a:t>VERIFICATION &amp; QA</a:t>
            </a:r>
          </a:p>
        </p:txBody>
      </p:sp>
      <p:sp>
        <p:nvSpPr>
          <p:cNvPr id="3" name="Title"/>
          <p:cNvSpPr/>
          <p:nvPr/>
        </p:nvSpPr>
        <p:spPr>
          <a:xfrm>
            <a:off x="609600" y="960000"/>
            <a:ext x="10972800" y="1000000"/>
          </a:xfrm>
          <a:prstGeom prst="rect">
            <a:avLst/>
          </a:prstGeom>
          <a:noFill/>
        </p:spPr>
        <p:txBody>
          <a:bodyPr lIns="0" tIns="0" rIns="0" bIns="0"/>
          <a:lstStyle/>
          <a:p>
            <a:r>
              <a:rPr b="1" sz="3800">
                <a:solidFill>
                  <a:srgbClr val="0F1115"/>
                </a:solidFill>
                <a:latin typeface="Trebuchet MS"/>
              </a:rPr>
              <a:t>Automated Testing &amp; Release Verification</a:t>
            </a:r>
          </a:p>
          <a:p>
            <a:r>
              <a:rPr sz="1800" i="1">
                <a:solidFill>
                  <a:srgbClr val="4A5059"/>
                </a:solidFill>
                <a:latin typeface="Arial"/>
              </a:rPr>
              <a:t>100% Pass Rate Across 94 Tests in 6 Backend Test Suites</a:t>
            </a:r>
          </a:p>
        </p:txBody>
      </p:sp>
      <p:sp>
        <p:nvSpPr>
          <p:cNvPr id="4" name="QuadCard1"/>
          <p:cNvSpPr/>
          <p:nvPr/>
        </p:nvSpPr>
        <p:spPr>
          <a:xfrm>
            <a:off x="609600" y="2200000"/>
            <a:ext x="5300000" y="1800000"/>
          </a:xfrm>
          <a:prstGeom prst="rect">
            <a:avLst/>
          </a:prstGeom>
          <a:solidFill>
            <a:srgbClr val="FFFFFF"/>
          </a:solidFill>
          <a:ln w="25400">
            <a:solidFill>
              <a:srgbClr val="0F1115"/>
            </a:solidFill>
          </a:ln>
        </p:spPr>
        <p:txBody>
          <a:bodyPr lIns="200000" tIns="150000" rIns="200000" bIns="150000"/>
          <a:lstStyle/>
          <a:p>
            <a:pPr spcAft="80000"/>
            <a:r>
              <a:rPr b="1" sz="1600">
                <a:solidFill>
                  <a:srgbClr val="2554FF"/>
                </a:solidFill>
                <a:latin typeface="Trebuchet MS"/>
              </a:rPr>
              <a:t>1. Authentication &amp; CSRF (12/12)</a:t>
            </a:r>
          </a:p>
          <a:p>
            <a:r>
              <a:rPr sz="1350">
                <a:solidFill>
                  <a:srgbClr val="0F1115"/>
                </a:solidFill>
                <a:latin typeface="Arial"/>
              </a:rPr>
              <a:t>Verifies registration, session regeneration, role tampering blocks, and CSRF token validation.</a:t>
            </a:r>
          </a:p>
        </p:txBody>
      </p:sp>
      <p:sp>
        <p:nvSpPr>
          <p:cNvPr id="5" name="QuadCard2"/>
          <p:cNvSpPr/>
          <p:nvPr/>
        </p:nvSpPr>
        <p:spPr>
          <a:xfrm>
            <a:off x="6282400" y="2200000"/>
            <a:ext x="5300000" y="1800000"/>
          </a:xfrm>
          <a:prstGeom prst="rect">
            <a:avLst/>
          </a:prstGeom>
          <a:solidFill>
            <a:srgbClr val="FFFFFF"/>
          </a:solidFill>
          <a:ln w="25400">
            <a:solidFill>
              <a:srgbClr val="0F1115"/>
            </a:solidFill>
          </a:ln>
        </p:spPr>
        <p:txBody>
          <a:bodyPr lIns="200000" tIns="150000" rIns="200000" bIns="150000"/>
          <a:lstStyle/>
          <a:p>
            <a:pPr spcAft="80000"/>
            <a:r>
              <a:rPr b="1" sz="1600">
                <a:solidFill>
                  <a:srgbClr val="FF5A36"/>
                </a:solidFill>
                <a:latin typeface="Trebuchet MS"/>
              </a:rPr>
              <a:t>2. Role Scoping &amp; Privacy (9/9)</a:t>
            </a:r>
          </a:p>
          <a:p>
            <a:r>
              <a:rPr sz="1350">
                <a:solidFill>
                  <a:srgbClr val="0F1115"/>
                </a:solidFill>
                <a:latin typeface="Arial"/>
              </a:rPr>
              <a:t>Tests responder assignment, discipline boundaries, and anonymous reporter sanitization.</a:t>
            </a:r>
          </a:p>
        </p:txBody>
      </p:sp>
      <p:sp>
        <p:nvSpPr>
          <p:cNvPr id="6" name="QuadCard3"/>
          <p:cNvSpPr/>
          <p:nvPr/>
        </p:nvSpPr>
        <p:spPr>
          <a:xfrm>
            <a:off x="609600" y="4200000"/>
            <a:ext x="5300000" y="1800000"/>
          </a:xfrm>
          <a:prstGeom prst="rect">
            <a:avLst/>
          </a:prstGeom>
          <a:solidFill>
            <a:srgbClr val="FFFFFF"/>
          </a:solidFill>
          <a:ln w="25400">
            <a:solidFill>
              <a:srgbClr val="0F1115"/>
            </a:solidFill>
          </a:ln>
        </p:spPr>
        <p:txBody>
          <a:bodyPr lIns="200000" tIns="150000" rIns="200000" bIns="150000"/>
          <a:lstStyle/>
          <a:p>
            <a:pPr spcAft="80000"/>
            <a:r>
              <a:rPr b="1" sz="1600">
                <a:solidFill>
                  <a:srgbClr val="8655FE"/>
                </a:solidFill>
                <a:latin typeface="Trebuchet MS"/>
              </a:rPr>
              <a:t>3. Multi-Factor Matching &amp; AI Guard (12/12)</a:t>
            </a:r>
          </a:p>
          <a:p>
            <a:r>
              <a:rPr sz="1350">
                <a:solidFill>
                  <a:srgbClr val="0F1115"/>
                </a:solidFill>
                <a:latin typeface="Arial"/>
              </a:rPr>
              <a:t>Verifies 4-dimension scoring, candidate thresholds, and sensitive narrative AI bypass.</a:t>
            </a:r>
          </a:p>
        </p:txBody>
      </p:sp>
      <p:sp>
        <p:nvSpPr>
          <p:cNvPr id="7" name="QuadCard4"/>
          <p:cNvSpPr/>
          <p:nvPr/>
        </p:nvSpPr>
        <p:spPr>
          <a:xfrm>
            <a:off x="6282400" y="4200000"/>
            <a:ext x="5300000" y="1800000"/>
          </a:xfrm>
          <a:prstGeom prst="rect">
            <a:avLst/>
          </a:prstGeom>
          <a:solidFill>
            <a:srgbClr val="FFFFFF"/>
          </a:solidFill>
          <a:ln w="25400">
            <a:solidFill>
              <a:srgbClr val="0F1115"/>
            </a:solidFill>
          </a:ln>
        </p:spPr>
        <p:txBody>
          <a:bodyPr lIns="200000" tIns="150000" rIns="200000" bIns="150000"/>
          <a:lstStyle/>
          <a:p>
            <a:pPr spcAft="80000"/>
            <a:r>
              <a:rPr b="1" sz="1600">
                <a:solidFill>
                  <a:srgbClr val="00B894"/>
                </a:solidFill>
                <a:latin typeface="Trebuchet MS"/>
              </a:rPr>
              <a:t>4. E2E, Acceptance &amp; RC Freeze (61/61)</a:t>
            </a:r>
          </a:p>
          <a:p>
            <a:r>
              <a:rPr sz="1350">
                <a:solidFill>
                  <a:srgbClr val="0F1115"/>
                </a:solidFill>
                <a:latin typeface="Arial"/>
              </a:rPr>
              <a:t>End-to-end incident lifecycle, sub-millisecond SOS dispatch latency, and full release candidate stabilization.</a:t>
            </a:r>
          </a:p>
        </p:txBody>
      </p:sp>
      <p:sp>
        <p:nvSpPr>
          <p:cNvPr id="8" name="Footer"/>
          <p:cNvSpPr/>
          <p:nvPr/>
        </p:nvSpPr>
        <p:spPr>
          <a:xfrm>
            <a:off x="609600" y="6250000"/>
            <a:ext x="10972800" y="300000"/>
          </a:xfrm>
          <a:prstGeom prst="rect">
            <a:avLst/>
          </a:prstGeom>
          <a:noFill/>
        </p:spPr>
        <p:txBody>
          <a:bodyPr lIns="0" tIns="0" rIns="0" bIns="0"/>
          <a:lstStyle/>
          <a:p>
            <a:pPr algn="r"/>
            <a:r>
              <a:rPr b="1" sz="1200">
                <a:solidFill>
                  <a:srgbClr val="4A5059"/>
                </a:solidFill>
                <a:latin typeface="Trebuchet MS"/>
              </a:rPr>
              <a:t>CampusSOS Expo 2026 | Slide 10 of 12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x="0" y="0"/>
          <a:chOff x="0" y="0"/>
          <a:chExt x="0" y="0"/>
        </a:xfrm>
      </p:grpSpPr>
      <p:sp>
        <p:nvSpPr>
          <p:cNvPr id="2" name="Badge"/>
          <p:cNvSpPr/>
          <p:nvPr/>
        </p:nvSpPr>
        <p:spPr>
          <a:xfrm>
            <a:off x="609600" y="457200"/>
            <a:ext x="5486400" y="411480"/>
          </a:xfrm>
          <a:prstGeom prst="roundRect">
            <a:avLst>
              <a:gd name="adj" fmla="val 30000"/>
            </a:avLst>
          </a:prstGeom>
          <a:solidFill>
            <a:srgbClr val="D2FF1F"/>
          </a:solidFill>
          <a:ln w="25400">
            <a:solidFill>
              <a:srgbClr val="0F1115"/>
            </a:solidFill>
          </a:ln>
        </p:spPr>
        <p:txBody>
          <a:bodyPr lIns="100000" tIns="50000" rIns="100000" bIns="50000" v="ctr"/>
          <a:lstStyle/>
          <a:p>
            <a:pPr algn="l"/>
            <a:r>
              <a:rPr b="1" sz="1300">
                <a:solidFill>
                  <a:srgbClr val="0F1115"/>
                </a:solidFill>
                <a:latin typeface="Trebuchet MS"/>
              </a:rPr>
              <a:t>EVALUATION &amp; ROADMAP</a:t>
            </a:r>
          </a:p>
        </p:txBody>
      </p:sp>
      <p:sp>
        <p:nvSpPr>
          <p:cNvPr id="3" name="Title"/>
          <p:cNvSpPr/>
          <p:nvPr/>
        </p:nvSpPr>
        <p:spPr>
          <a:xfrm>
            <a:off x="609600" y="960000"/>
            <a:ext x="10972800" y="1000000"/>
          </a:xfrm>
          <a:prstGeom prst="rect">
            <a:avLst/>
          </a:prstGeom>
          <a:noFill/>
        </p:spPr>
        <p:txBody>
          <a:bodyPr lIns="0" tIns="0" rIns="0" bIns="0"/>
          <a:lstStyle/>
          <a:p>
            <a:r>
              <a:rPr b="1" sz="3800">
                <a:solidFill>
                  <a:srgbClr val="0F1115"/>
                </a:solidFill>
                <a:latin typeface="Trebuchet MS"/>
              </a:rPr>
              <a:t>Limitations &amp; Future Engineering Horizons</a:t>
            </a:r>
          </a:p>
          <a:p>
            <a:r>
              <a:rPr sz="1800" i="1">
                <a:solidFill>
                  <a:srgbClr val="4A5059"/>
                </a:solidFill>
                <a:latin typeface="Arial"/>
              </a:rPr>
              <a:t>Transparent System Boundaries and Next-Generation Capabilities</a:t>
            </a:r>
          </a:p>
        </p:txBody>
      </p:sp>
      <p:sp>
        <p:nvSpPr>
          <p:cNvPr id="4" name="QuadCard1"/>
          <p:cNvSpPr/>
          <p:nvPr/>
        </p:nvSpPr>
        <p:spPr>
          <a:xfrm>
            <a:off x="609600" y="2200000"/>
            <a:ext x="5300000" y="1800000"/>
          </a:xfrm>
          <a:prstGeom prst="rect">
            <a:avLst/>
          </a:prstGeom>
          <a:solidFill>
            <a:srgbClr val="FFFFFF"/>
          </a:solidFill>
          <a:ln w="25400">
            <a:solidFill>
              <a:srgbClr val="0F1115"/>
            </a:solidFill>
          </a:ln>
        </p:spPr>
        <p:txBody>
          <a:bodyPr lIns="200000" tIns="150000" rIns="200000" bIns="150000"/>
          <a:lstStyle/>
          <a:p>
            <a:pPr spcAft="80000"/>
            <a:r>
              <a:rPr b="1" sz="1600">
                <a:solidFill>
                  <a:srgbClr val="2554FF"/>
                </a:solidFill>
                <a:latin typeface="Trebuchet MS"/>
              </a:rPr>
              <a:t>1. Current Boundaries (Today)</a:t>
            </a:r>
          </a:p>
          <a:p>
            <a:r>
              <a:rPr sz="1350">
                <a:solidFill>
                  <a:srgbClr val="0F1115"/>
                </a:solidFill>
                <a:latin typeface="Arial"/>
              </a:rPr>
              <a:t>Local simulated SMS notices (in-app feeds). Campus-internal dispatch (not municipal 911). AI subject to cloud provider rate limits.</a:t>
            </a:r>
          </a:p>
        </p:txBody>
      </p:sp>
      <p:sp>
        <p:nvSpPr>
          <p:cNvPr id="5" name="QuadCard2"/>
          <p:cNvSpPr/>
          <p:nvPr/>
        </p:nvSpPr>
        <p:spPr>
          <a:xfrm>
            <a:off x="6282400" y="2200000"/>
            <a:ext x="5300000" y="1800000"/>
          </a:xfrm>
          <a:prstGeom prst="rect">
            <a:avLst/>
          </a:prstGeom>
          <a:solidFill>
            <a:srgbClr val="FFFFFF"/>
          </a:solidFill>
          <a:ln w="25400">
            <a:solidFill>
              <a:srgbClr val="0F1115"/>
            </a:solidFill>
          </a:ln>
        </p:spPr>
        <p:txBody>
          <a:bodyPr lIns="200000" tIns="150000" rIns="200000" bIns="150000"/>
          <a:lstStyle/>
          <a:p>
            <a:pPr spcAft="80000"/>
            <a:r>
              <a:rPr b="1" sz="1600">
                <a:solidFill>
                  <a:srgbClr val="FF5A36"/>
                </a:solidFill>
                <a:latin typeface="Trebuchet MS"/>
              </a:rPr>
              <a:t>2. Live Telecom Gateway (Next)</a:t>
            </a:r>
          </a:p>
          <a:p>
            <a:r>
              <a:rPr sz="1350">
                <a:solidFill>
                  <a:srgbClr val="0F1115"/>
                </a:solidFill>
                <a:latin typeface="Arial"/>
              </a:rPr>
              <a:t>Direct Twilio / WhatsApp Business API integration for offline student SMS alerts and broadcast notices.</a:t>
            </a:r>
          </a:p>
        </p:txBody>
      </p:sp>
      <p:sp>
        <p:nvSpPr>
          <p:cNvPr id="6" name="QuadCard3"/>
          <p:cNvSpPr/>
          <p:nvPr/>
        </p:nvSpPr>
        <p:spPr>
          <a:xfrm>
            <a:off x="609600" y="4200000"/>
            <a:ext x="5300000" y="1800000"/>
          </a:xfrm>
          <a:prstGeom prst="rect">
            <a:avLst/>
          </a:prstGeom>
          <a:solidFill>
            <a:srgbClr val="FFFFFF"/>
          </a:solidFill>
          <a:ln w="25400">
            <a:solidFill>
              <a:srgbClr val="0F1115"/>
            </a:solidFill>
          </a:ln>
        </p:spPr>
        <p:txBody>
          <a:bodyPr lIns="200000" tIns="150000" rIns="200000" bIns="150000"/>
          <a:lstStyle/>
          <a:p>
            <a:pPr spcAft="80000"/>
            <a:r>
              <a:rPr b="1" sz="1600">
                <a:solidFill>
                  <a:srgbClr val="8655FE"/>
                </a:solidFill>
                <a:latin typeface="Trebuchet MS"/>
              </a:rPr>
              <a:t>3. WebRTC Two-Way Audio</a:t>
            </a:r>
          </a:p>
          <a:p>
            <a:r>
              <a:rPr sz="1350">
                <a:solidFill>
                  <a:srgbClr val="0F1115"/>
                </a:solidFill>
                <a:latin typeface="Arial"/>
              </a:rPr>
              <a:t>Instant walkie-talkie audio streaming between stranded student and on-duty dispatcher directly in the browser.</a:t>
            </a:r>
          </a:p>
        </p:txBody>
      </p:sp>
      <p:sp>
        <p:nvSpPr>
          <p:cNvPr id="7" name="QuadCard4"/>
          <p:cNvSpPr/>
          <p:nvPr/>
        </p:nvSpPr>
        <p:spPr>
          <a:xfrm>
            <a:off x="6282400" y="4200000"/>
            <a:ext x="5300000" y="1800000"/>
          </a:xfrm>
          <a:prstGeom prst="rect">
            <a:avLst/>
          </a:prstGeom>
          <a:solidFill>
            <a:srgbClr val="FFFFFF"/>
          </a:solidFill>
          <a:ln w="25400">
            <a:solidFill>
              <a:srgbClr val="0F1115"/>
            </a:solidFill>
          </a:ln>
        </p:spPr>
        <p:txBody>
          <a:bodyPr lIns="200000" tIns="150000" rIns="200000" bIns="150000"/>
          <a:lstStyle/>
          <a:p>
            <a:pPr spcAft="80000"/>
            <a:r>
              <a:rPr b="1" sz="1600">
                <a:solidFill>
                  <a:srgbClr val="00B894"/>
                </a:solidFill>
                <a:latin typeface="Trebuchet MS"/>
              </a:rPr>
              <a:t>4. Native Mobile Geofencing</a:t>
            </a:r>
          </a:p>
          <a:p>
            <a:r>
              <a:rPr sz="1350">
                <a:solidFill>
                  <a:srgbClr val="0F1115"/>
                </a:solidFill>
                <a:latin typeface="Arial"/>
              </a:rPr>
              <a:t>Capacitor / React Native mobile packaging with background GPS beacon tracking across campus zones.</a:t>
            </a:r>
          </a:p>
        </p:txBody>
      </p:sp>
      <p:sp>
        <p:nvSpPr>
          <p:cNvPr id="8" name="Footer"/>
          <p:cNvSpPr/>
          <p:nvPr/>
        </p:nvSpPr>
        <p:spPr>
          <a:xfrm>
            <a:off x="609600" y="6250000"/>
            <a:ext x="10972800" y="300000"/>
          </a:xfrm>
          <a:prstGeom prst="rect">
            <a:avLst/>
          </a:prstGeom>
          <a:noFill/>
        </p:spPr>
        <p:txBody>
          <a:bodyPr lIns="0" tIns="0" rIns="0" bIns="0"/>
          <a:lstStyle/>
          <a:p>
            <a:pPr algn="r"/>
            <a:r>
              <a:rPr b="1" sz="1200">
                <a:solidFill>
                  <a:srgbClr val="4A5059"/>
                </a:solidFill>
                <a:latin typeface="Trebuchet MS"/>
              </a:rPr>
              <a:t>CampusSOS Expo 2026 | Slide 11 of 12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x="0" y="0"/>
          <a:chOff x="0" y="0"/>
          <a:chExt x="0" y="0"/>
        </a:xfrm>
      </p:grpSpPr>
      <p:sp>
        <p:nvSpPr>
          <p:cNvPr id="2" name="Badge"/>
          <p:cNvSpPr/>
          <p:nvPr/>
        </p:nvSpPr>
        <p:spPr>
          <a:xfrm>
            <a:off x="609600" y="457200"/>
            <a:ext x="5486400" y="411480"/>
          </a:xfrm>
          <a:prstGeom prst="roundRect">
            <a:avLst>
              <a:gd name="adj" fmla="val 30000"/>
            </a:avLst>
          </a:prstGeom>
          <a:solidFill>
            <a:srgbClr val="D2FF1F"/>
          </a:solidFill>
          <a:ln w="25400">
            <a:solidFill>
              <a:srgbClr val="0F1115"/>
            </a:solidFill>
          </a:ln>
        </p:spPr>
        <p:txBody>
          <a:bodyPr lIns="100000" tIns="50000" rIns="100000" bIns="50000" v="ctr"/>
          <a:lstStyle/>
          <a:p>
            <a:pPr algn="l"/>
            <a:r>
              <a:rPr b="1" sz="1300">
                <a:solidFill>
                  <a:srgbClr val="0F1115"/>
                </a:solidFill>
                <a:latin typeface="Trebuchet MS"/>
              </a:rPr>
              <a:t>PROJECT DEFENSE</a:t>
            </a:r>
          </a:p>
        </p:txBody>
      </p:sp>
      <p:sp>
        <p:nvSpPr>
          <p:cNvPr id="3" name="Title"/>
          <p:cNvSpPr/>
          <p:nvPr/>
        </p:nvSpPr>
        <p:spPr>
          <a:xfrm>
            <a:off x="609600" y="960000"/>
            <a:ext x="10972800" y="1000000"/>
          </a:xfrm>
          <a:prstGeom prst="rect">
            <a:avLst/>
          </a:prstGeom>
          <a:noFill/>
        </p:spPr>
        <p:txBody>
          <a:bodyPr lIns="0" tIns="0" rIns="0" bIns="0"/>
          <a:lstStyle/>
          <a:p>
            <a:r>
              <a:rPr b="1" sz="3800">
                <a:solidFill>
                  <a:srgbClr val="0F1115"/>
                </a:solidFill>
                <a:latin typeface="Trebuchet MS"/>
              </a:rPr>
              <a:t>Engineered for Real Campus Safety</a:t>
            </a:r>
          </a:p>
          <a:p>
            <a:r>
              <a:rPr sz="1800" i="1">
                <a:solidFill>
                  <a:srgbClr val="4A5059"/>
                </a:solidFill>
                <a:latin typeface="Arial"/>
              </a:rPr>
              <a:t>Deterministic Dispatch · Ironclad Privacy · Transparent Governance</a:t>
            </a:r>
          </a:p>
        </p:txBody>
      </p:sp>
      <p:sp>
        <p:nvSpPr>
          <p:cNvPr id="4" name="QuadCard1"/>
          <p:cNvSpPr/>
          <p:nvPr/>
        </p:nvSpPr>
        <p:spPr>
          <a:xfrm>
            <a:off x="609600" y="2200000"/>
            <a:ext x="5300000" y="1800000"/>
          </a:xfrm>
          <a:prstGeom prst="rect">
            <a:avLst/>
          </a:prstGeom>
          <a:solidFill>
            <a:srgbClr val="FFFFFF"/>
          </a:solidFill>
          <a:ln w="25400">
            <a:solidFill>
              <a:srgbClr val="0F1115"/>
            </a:solidFill>
          </a:ln>
        </p:spPr>
        <p:txBody>
          <a:bodyPr lIns="200000" tIns="150000" rIns="200000" bIns="150000"/>
          <a:lstStyle/>
          <a:p>
            <a:pPr spcAft="80000"/>
            <a:r>
              <a:rPr b="1" sz="1600">
                <a:solidFill>
                  <a:srgbClr val="2554FF"/>
                </a:solidFill>
                <a:latin typeface="Trebuchet MS"/>
              </a:rPr>
              <a:t>1. Dual-Pathway Design</a:t>
            </a:r>
          </a:p>
          <a:p>
            <a:r>
              <a:rPr sz="1350">
                <a:solidFill>
                  <a:srgbClr val="0F1115"/>
                </a:solidFill>
                <a:latin typeface="Arial"/>
              </a:rPr>
              <a:t>Strict separation of urgent life safety from routine administrative reporting.</a:t>
            </a:r>
          </a:p>
        </p:txBody>
      </p:sp>
      <p:sp>
        <p:nvSpPr>
          <p:cNvPr id="5" name="QuadCard2"/>
          <p:cNvSpPr/>
          <p:nvPr/>
        </p:nvSpPr>
        <p:spPr>
          <a:xfrm>
            <a:off x="6282400" y="2200000"/>
            <a:ext x="5300000" y="1800000"/>
          </a:xfrm>
          <a:prstGeom prst="rect">
            <a:avLst/>
          </a:prstGeom>
          <a:solidFill>
            <a:srgbClr val="FFFFFF"/>
          </a:solidFill>
          <a:ln w="25400">
            <a:solidFill>
              <a:srgbClr val="0F1115"/>
            </a:solidFill>
          </a:ln>
        </p:spPr>
        <p:txBody>
          <a:bodyPr lIns="200000" tIns="150000" rIns="200000" bIns="150000"/>
          <a:lstStyle/>
          <a:p>
            <a:pPr spcAft="80000"/>
            <a:r>
              <a:rPr b="1" sz="1600">
                <a:solidFill>
                  <a:srgbClr val="FF5A36"/>
                </a:solidFill>
                <a:latin typeface="Trebuchet MS"/>
              </a:rPr>
              <a:t>2. Privacy by Architecture</a:t>
            </a:r>
          </a:p>
          <a:p>
            <a:r>
              <a:rPr sz="1350">
                <a:solidFill>
                  <a:srgbClr val="0F1115"/>
                </a:solidFill>
                <a:latin typeface="Arial"/>
              </a:rPr>
              <a:t>Anonymous NULL sanitization and confidential case role isolation.</a:t>
            </a:r>
          </a:p>
        </p:txBody>
      </p:sp>
      <p:sp>
        <p:nvSpPr>
          <p:cNvPr id="6" name="QuadCard3"/>
          <p:cNvSpPr/>
          <p:nvPr/>
        </p:nvSpPr>
        <p:spPr>
          <a:xfrm>
            <a:off x="609600" y="4200000"/>
            <a:ext x="5300000" y="1800000"/>
          </a:xfrm>
          <a:prstGeom prst="rect">
            <a:avLst/>
          </a:prstGeom>
          <a:solidFill>
            <a:srgbClr val="FFFFFF"/>
          </a:solidFill>
          <a:ln w="25400">
            <a:solidFill>
              <a:srgbClr val="0F1115"/>
            </a:solidFill>
          </a:ln>
        </p:spPr>
        <p:txBody>
          <a:bodyPr lIns="200000" tIns="150000" rIns="200000" bIns="150000"/>
          <a:lstStyle/>
          <a:p>
            <a:pPr spcAft="80000"/>
            <a:r>
              <a:rPr b="1" sz="1600">
                <a:solidFill>
                  <a:srgbClr val="8655FE"/>
                </a:solidFill>
                <a:latin typeface="Trebuchet MS"/>
              </a:rPr>
              <a:t>3. Deterministic Reliability</a:t>
            </a:r>
          </a:p>
          <a:p>
            <a:r>
              <a:rPr sz="1350">
                <a:solidFill>
                  <a:srgbClr val="0F1115"/>
                </a:solidFill>
                <a:latin typeface="Arial"/>
              </a:rPr>
              <a:t>Local sub-4ms dispatch with zero external cloud dependencies for life-safety SOS.</a:t>
            </a:r>
          </a:p>
        </p:txBody>
      </p:sp>
      <p:sp>
        <p:nvSpPr>
          <p:cNvPr id="7" name="QuadCard4"/>
          <p:cNvSpPr/>
          <p:nvPr/>
        </p:nvSpPr>
        <p:spPr>
          <a:xfrm>
            <a:off x="6282400" y="4200000"/>
            <a:ext x="5300000" y="1800000"/>
          </a:xfrm>
          <a:prstGeom prst="rect">
            <a:avLst/>
          </a:prstGeom>
          <a:solidFill>
            <a:srgbClr val="FFFFFF"/>
          </a:solidFill>
          <a:ln w="25400">
            <a:solidFill>
              <a:srgbClr val="0F1115"/>
            </a:solidFill>
          </a:ln>
        </p:spPr>
        <p:txBody>
          <a:bodyPr lIns="200000" tIns="150000" rIns="200000" bIns="150000"/>
          <a:lstStyle/>
          <a:p>
            <a:pPr spcAft="80000"/>
            <a:r>
              <a:rPr b="1" sz="1600">
                <a:solidFill>
                  <a:srgbClr val="00B894"/>
                </a:solidFill>
                <a:latin typeface="Trebuchet MS"/>
              </a:rPr>
              <a:t>4. Human-in-the-Loop Integrity</a:t>
            </a:r>
          </a:p>
          <a:p>
            <a:r>
              <a:rPr sz="1350">
                <a:solidFill>
                  <a:srgbClr val="0F1115"/>
                </a:solidFill>
                <a:latin typeface="Arial"/>
              </a:rPr>
              <a:t>Algorithmic triage assists human dispatchers without unilateral automated deletion.</a:t>
            </a:r>
          </a:p>
        </p:txBody>
      </p:sp>
      <p:sp>
        <p:nvSpPr>
          <p:cNvPr id="8" name="Footer"/>
          <p:cNvSpPr/>
          <p:nvPr/>
        </p:nvSpPr>
        <p:spPr>
          <a:xfrm>
            <a:off x="609600" y="6250000"/>
            <a:ext x="10972800" y="300000"/>
          </a:xfrm>
          <a:prstGeom prst="rect">
            <a:avLst/>
          </a:prstGeom>
          <a:noFill/>
        </p:spPr>
        <p:txBody>
          <a:bodyPr lIns="0" tIns="0" rIns="0" bIns="0"/>
          <a:lstStyle/>
          <a:p>
            <a:pPr algn="r"/>
            <a:r>
              <a:rPr b="1" sz="1200">
                <a:solidFill>
                  <a:srgbClr val="4A5059"/>
                </a:solidFill>
                <a:latin typeface="Trebuchet MS"/>
              </a:rPr>
              <a:t>CampusSOS Expo 2026 | Slide 12 of 12</a:t>
            </a:r>
          </a:p>
        </p:txBody>
      </p:sp>
    </p:spTree>
  </p:cSld>
  <p:clrMapOvr>
    <a:masterClrMapping/>
  </p:clrMapOvr>
</p:sld>
</file>

<file path=ppt/theme/theme1.xml><?xml version="1.0" encoding="utf-8"?>
<a:theme xmlns:a="http://schemas.openxmlformats.org/drawingml/2006/main" name="CampusSOS NeoBrutalist">
  <a:themeElements>
    <a:clrScheme name="CampusSOS">
      <a:dk1>
        <a:srgbClr val="0F1115"/>
      </a:dk1>
      <a:lt1>
        <a:srgbClr val="FDFBF4"/>
      </a:lt1>
      <a:dk2>
        <a:srgbClr val="2B2D42"/>
      </a:dk2>
      <a:lt2>
        <a:srgbClr val="FFFFFF"/>
      </a:lt2>
      <a:accent1>
        <a:srgbClr val="2554FF"/>
      </a:accent1>
      <a:accent2>
        <a:srgbClr val="FF5A36"/>
      </a:accent2>
      <a:accent3>
        <a:srgbClr val="D2FF1F"/>
      </a:accent3>
      <a:accent4>
        <a:srgbClr val="8655FE"/>
      </a:accent4>
      <a:accent5>
        <a:srgbClr val="FFD233"/>
      </a:accent5>
      <a:accent6>
        <a:srgbClr val="00B894"/>
      </a:accent6>
      <a:hlink>
        <a:srgbClr val="2554FF"/>
      </a:hlink>
      <a:folHlink>
        <a:srgbClr val="8655FE"/>
      </a:folHlink>
    </a:clrScheme>
    <a:fontScheme name="NeoBrutalistFonts">
      <a:majorFont>
        <a:latin typeface="Trebuchet MS"/>
      </a:majorFont>
      <a:minorFont>
        <a:latin typeface="Arial"/>
      </a:minorFont>
    </a:fontScheme>
    <a:fmtScheme name="Office">
      <a:fillStyleLst>
        <a:solidFill>
          <a:schemeClr val="lt1"/>
        </a:solidFill>
        <a:solidFill>
          <a:schemeClr val="accent1"/>
        </a:solidFill>
        <a:solidFill>
          <a:schemeClr val="accent2"/>
        </a:solidFill>
      </a:fillStyleLst>
      <a:lnStyleLst>
        <a:ln w="25400" cmpd="s">
          <a:solidFill>
            <a:srgbClr val="0F1115"/>
          </a:solidFill>
        </a:ln>
        <a:ln w="38100" cmpd="s">
          <a:solidFill>
            <a:srgbClr val="0F1115"/>
          </a:solidFill>
        </a:ln>
        <a:ln w="50800" cmpd="s">
          <a:solidFill>
            <a:srgbClr val="0F1115"/>
          </a:solidFill>
        </a:ln>
      </a:lnStyleLst>
      <a:effectStyleLst>
        <a:effectStyle>
          <a:effectLst/>
        </a:effectStyle>
        <a:effectStyle>
          <a:effectLst/>
        </a:effectStyle>
        <a:effectStyle>
          <a:effectLst/>
        </a:effectStyle>
      </a:effectStyleLst>
      <a:bgFillStyleLst>
        <a:solidFill>
          <a:srgbClr val="FDFBF4"/>
        </a:solidFill>
        <a:solidFill>
          <a:srgbClr val="FFFFFF"/>
        </a:solidFill>
        <a:solidFill>
          <a:srgbClr val="F4F1EA"/>
        </a:solidFill>
      </a:bgFillStyleLst>
    </a:fmtScheme>
  </a:themeElements>
</a:theme>
</file>

<file path=docProps/app.xml><?xml version="1.0" encoding="utf-8"?>
<Properties xmlns="http://schemas.openxmlformats.org/officeDocument/2006/extended-properties" xmlns:vt="http://schemas.openxmlformats.org/officeDocument/2006/docPropsVTypes">
  <TotalTime>0</TotalTime>
  <Words>1200</Words>
  <Application>CampusSOS Expo Generator</Application>
  <Slides>12</Slid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CampusSOS — Project Expo Presentation</dc:title>
  <dc:subject>Campus Emergency Response &amp; Safety Platform</dc:subject>
  <dc:creator>CampusSOS Team</dc:creator>
  <cp:keywords>Campus Safety, React, PHP, MySQL, Emergency SOS</cp:keywords>
  <dc:description>Editorial Neo-Brutalist Presentation Deck for CampusSOS Project Expo 2026</dc:description>
</cp:coreProperties>
</file>